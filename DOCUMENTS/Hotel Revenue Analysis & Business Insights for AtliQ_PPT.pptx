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5"/>
  </p:notesMasterIdLst>
  <p:sldIdLst>
    <p:sldId id="256" r:id="rId2"/>
    <p:sldId id="258" r:id="rId3"/>
    <p:sldId id="259" r:id="rId4"/>
    <p:sldId id="257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56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39:56.130"/>
    </inkml:context>
    <inkml:brush xml:id="br0">
      <inkml:brushProperty name="width" value="0.3" units="cm"/>
      <inkml:brushProperty name="height" value="0.6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2071 251,'0'-5,"-1"1,0 0,1 0,-2 0,1 0,0 0,-1 0,1 0,-1 1,0-1,-1 1,1-1,-1 1,1 0,-1-1,0 1,0 1,0-1,0 0,-1 1,1 0,-1 0,-6-3,-10-5,-1 2,0 0,-29-6,24 7,23 6,-241-81,223 74,-1 1,1 1,-1 0,-1 2,-41-3,-116 8,73 2,65-4,-1 2,1 1,1 3,-1 1,1 2,-48 16,-130 42,109-40,-8 4,92-23,0-1,-46 5,49-8,-1 0,1 2,-41 13,18-2,30-11,1 0,-27 14,42-19,0 0,0 0,0 0,-1 0,1 0,0 0,0 0,0 0,0 0,0 0,0 0,0 0,-1 0,1 0,0 0,0 0,0 0,0 0,0 1,0-1,0 0,0 0,0 0,-1 0,1 0,0 0,0 0,0 0,0 1,0-1,0 0,0 0,0 0,0 0,0 0,0 0,0 1,0-1,0 0,0 0,0 0,0 0,0 0,0 0,0 1,0-1,0 0,0 0,1 0,-1 0,0 0,0 0,0 0,0 1,10 2,16-1,58-4,1-3,-2-4,119-28,-119 23,1 4,1 3,100 6,-120 3,238-4,-279 1,0-1,0-1,-1-2,33-9,-56 14,1 0,0 0,-1 0,1-1,0 1,-1 0,1 0,0-1,-1 1,1-1,-1 1,1 0,0-1,-1 1,1-1,-1 1,0-1,1 1,-1-1,1 0,0 0,-11-6,-29 2,-20 9,0 3,1 2,-58 17,30-6,-29 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39:57.781"/>
    </inkml:context>
    <inkml:brush xml:id="br0">
      <inkml:brushProperty name="width" value="0.3" units="cm"/>
      <inkml:brushProperty name="height" value="0.6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1677 1,'415'0,"-429"5,1 0,1 2,-1-1,-20 16,5-4,-12 3,-1-2,0-1,-65 17,28-9,69-23,-45 18,51-20,0 1,0-1,0 1,1 0,-1 0,0 0,1 0,-1 0,1 1,0-1,0 1,0-1,-3 6,5-8,0 0,0 1,0-1,0 0,0 1,0-1,0 0,0 1,0-1,0 1,0-1,0 0,0 1,0-1,0 0,0 1,1-1,-1 0,0 1,0-1,0 0,1 1,-1-1,0 0,0 1,1-1,-1 0,0 0,0 0,1 1,-1-1,0 0,1 0,-1 0,0 1,1-1,-1 0,1 0,-1 0,0 0,1 0,-1 0,0 0,1 0,-1 0,1 0,-1 0,0 0,1 0,23-2,-24 2,173-36,-26 3,-139 32,25-4,0-1,-1-1,1-2,-1-1,41-20,-189 87,-17 8,-299 233,426-293,-6 4,4-4,0 1,0 1,1 0,-1 0,-8 11,16-18,0 0,-1 1,1-1,0 1,-1-1,1 0,0 1,-1-1,1 1,0-1,0 1,0-1,0 1,-1-1,1 1,0-1,0 1,0-1,0 1,0 0,0-1,0 1,0-1,1 1,-1-1,0 1,0-1,0 1,0-1,1 1,-1-1,0 0,0 1,1-1,-1 1,0-1,1 0,-1 1,1 0,23 3,-9-4,0-1,0-1,-1-1,1 0,-1-1,26-10,84-46,-103 49,417-260,-300 179,-25 23,-139 78,-254 161,171-100,-672 439,46-28,331-229,355-227,33-21,16-4,0 0,0 0,-1 0,1 0,0 0,0 0,0 0,0-1,-1 1,1 0,0 0,0 0,0 0,0 0,-1 0,1 0,0-1,0 1,0 0,0 0,0 0,0 0,0-1,0 1,0 0,-1 0,1 0,0 0,0-1,0 1,0 0,0 0,0 0,0-1,0 1,0 0,0 0,0 0,0-1,16-24,18-13,2 2,60-48,98-57,137-76,29-19,224-208,-424 306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39:58.544"/>
    </inkml:context>
    <inkml:brush xml:id="br0">
      <inkml:brushProperty name="width" value="0.3" units="cm"/>
      <inkml:brushProperty name="height" value="0.6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2997 6,'0'-1,"0"1,0 0,0 0,0 0,0 0,0-1,0 1,0 0,0 0,0 0,0 0,0-1,0 1,0 0,0 0,0 0,0 0,0 0,0-1,0 1,-1 0,1 0,0 0,0 0,0 0,0 0,0 0,0-1,-1 1,1 0,0 0,0 0,0 0,0 0,0 0,-1 0,1 0,0 0,0 0,0 0,0 0,0 0,-1 0,1 0,0 0,0 0,0 0,0 0,-1 0,1 0,-12 7,-10 14,-8 9,-82 88,-130 104,-134 54,-20-18,185-123,-387 222,430-271,-298 106,401-169,-136 40,197-61,-3 0,0-1,0 1,1-1,-1 0,-9 0,14-1,1 0,0-1,-1 1,1 0,-1-1,1 1,-1-1,1 1,0-1,-1 1,1-1,0 0,0 0,-1 0,1 0,0 0,0 0,0 0,0 0,0 0,0 0,1 0,-1-1,0 1,1 0,-1-1,0 1,1 0,-1-4,-1-6,1-1,-1 0,2 1,0-1,1 0,0 0,0 1,1-1,5-14,4-13,25-53,-13 43,3 0,1 2,2 1,3 2,1 1,43-44,-4 17,2 4,123-86,565-333,-600 402,-161 81,1 1,0 0,0 0,-1 0,1 0,0 1,0-1,0 0,0 1,0-1,0 1,0 0,0 0,3 0,-4 1,0-1,0 1,0 0,0 0,0 0,0 0,-1 0,1 0,0 0,-1 0,1 0,-1 0,1 0,-1 0,1 0,-1 1,0-1,1 0,-1 0,0 1,0-1,0 0,0 0,0 2,1 80,-3-1,-24 150,3-113,-68 200,81-287,1 1,2 0,1 0,1 0,1 64,5-71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39:59.296"/>
    </inkml:context>
    <inkml:brush xml:id="br0">
      <inkml:brushProperty name="width" value="0.3" units="cm"/>
      <inkml:brushProperty name="height" value="0.6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358 0,'-8'266,"4"-215,-3 0,-2-1,-19 59,-41 74,-10 36,32-18,29-114,-51 148,59-217,9-18,1-1,-1 1,1 0,-1-1,1 1,-1-1,1 1,0 0,-1-1,1 1,-1-1,1 1,0-1,0 1,-1-1,1 1,0-1,0 1,0-1,0 1,-1-1,1 0,0 1,0-1,0 1,0-1,0 1,0-1,1 0,-1 0,-2-22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39:59.664"/>
    </inkml:context>
    <inkml:brush xml:id="br0">
      <inkml:brushProperty name="width" value="0.3" units="cm"/>
      <inkml:brushProperty name="height" value="0.6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2 1,'0'1753,"-2"-1924,4-178,3 241,22-126,-11 146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39:59.934"/>
    </inkml:context>
    <inkml:brush xml:id="br0">
      <inkml:brushProperty name="width" value="0.3" units="cm"/>
      <inkml:brushProperty name="height" value="0.6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1,'1'13,"1"0,0 0,0 0,7 19,3 15,103 487,-66-318,-39-167,-2 1,-2 1,-1 100,-5-149,-1 9,1-11,0 0,0 1,0-1,0 0,0 0,0 0,0 0,-1 0,1 0,0 0,0 0,0 0,0 0,0 1,0-1,0 0,-1 0,1 0,0 0,0 0,0 0,0 0,0 0,0 0,-1 0,1 0,0 0,0 0,0 0,0 0,0 0,0 0,-1 0,1-1,0 1,0 0,0 0,0 0,0 0,0 0,0 0,-1 0,1 0,0 0,0 0,0 0,0-1,0 1,0 0,0 0,0 0,0 0,0 0,0 0,0-1,0 1,0 0,0 0,0 0,0 0,0 0,0 0,0-1,0 1,0 0,0 0,0 0,0 0,-7-14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40:00.221"/>
    </inkml:context>
    <inkml:brush xml:id="br0">
      <inkml:brushProperty name="width" value="0.3" units="cm"/>
      <inkml:brushProperty name="height" value="0.6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0,'0'14,"0"18,9 18,8 19,11 7,4 5,2 2,-5 1,-7-5,-8-6,-6-10,-4-8,-4-8,0-7,-6-20,-2-23,1-24,1-8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40:01.235"/>
    </inkml:context>
    <inkml:brush xml:id="br0">
      <inkml:brushProperty name="width" value="0.3" units="cm"/>
      <inkml:brushProperty name="height" value="0.6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1035 1,'-1'0,"-1"0,0 1,0-1,0 1,1 0,-1 0,0-1,1 1,-1 0,1 1,-1-1,1 0,0 0,-1 1,1-1,0 0,0 1,0-1,0 1,0 0,0-1,0 1,0 0,1-1,-1 3,-14 52,13-44,-1-1,0 0,0 0,-1-1,0 1,-1-1,0 0,-1 0,0 0,-1-1,1 0,-2 0,1-1,-14 11,-22 25,2 2,-49 69,26-31,44-59,-1 0,-2-1,0-2,-47 35,3-10,26-20,1 2,1 1,2 2,-34 37,-1 6,53-59,1 2,1 0,0 2,2-1,-19 32,21-24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40:04.682"/>
    </inkml:context>
    <inkml:brush xml:id="br0">
      <inkml:brushProperty name="width" value="0.3" units="cm"/>
      <inkml:brushProperty name="height" value="0.6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1 612,'0'1,"0"0,1 0,-1 0,1 0,-1 0,1 0,0 0,-1 0,1 0,0 0,0 0,0-1,0 1,0 0,-1-1,1 1,0 0,0-1,1 1,-1-1,0 0,0 1,0-1,0 0,0 0,2 1,37 4,-34-4,16 0,0-1,0-1,0-1,0-1,26-7,105-37,-102 28,96-31,-130 44,0 0,0-1,-1-1,28-18,21-10,-27 20,-2-2,0-1,-1-3,50-38,-62 41,2 1,0 1,1 2,1 0,29-11,146-47,-130 50,-61 18,0 0,-1 0,0-1,0-1,12-10,4-2,-9 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40:06.148"/>
    </inkml:context>
    <inkml:brush xml:id="br0">
      <inkml:brushProperty name="width" value="0.3" units="cm"/>
      <inkml:brushProperty name="height" value="0.6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342 0,'1'14,"0"-1,2 0,-1 1,1-1,8 20,1 4,6 24,65 248,-63-219,12 138,-22 529,-14-470,5-72,-9 295,1-423,-30 132,-38 80,52-211,-85 287,-4 12,0 53,102-403,-21 51,20-58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40:12.099"/>
    </inkml:context>
    <inkml:brush xml:id="br0">
      <inkml:brushProperty name="width" value="0.3" units="cm"/>
      <inkml:brushProperty name="height" value="0.6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40:20.299"/>
    </inkml:context>
    <inkml:brush xml:id="br0">
      <inkml:brushProperty name="width" value="0.5" units="cm"/>
      <inkml:brushProperty name="height" value="1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1,'1'7,"0"0,0 0,0 0,5 11,1 11,90 390,-14-68,-15-77,12 70,-18-72,-9-44,-50-210,1 1,1-1,1 1,16 33,-21-50,-1-1,1 1,0-1,0 1,0-1,0 0,0 1,0-1,0 0,0 0,1 0,-1 0,0 0,1 0,1 1,-3-2,1 0,0 0,-1 0,1 0,-1 0,1 0,-1 0,1-1,-1 1,1 0,-1 0,1 0,-1-1,1 1,-1 0,1-1,-1 1,1 0,-1-1,0 1,1 0,-1-1,0 1,1-1,-1 1,0-1,1 1,-1-1,0 0,3-5,-1 0,0 0,0 0,-1-1,0 1,1-10,2-119,-4 62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40:20.603"/>
    </inkml:context>
    <inkml:brush xml:id="br0">
      <inkml:brushProperty name="width" value="0.5" units="cm"/>
      <inkml:brushProperty name="height" value="1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1,'4'0,"2"4,0 7,-1 5,-2 6,-1 2,-1 3,0 6,4 6,5 7,2-1,-1 2,-3 1,-3-6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40:20.921"/>
    </inkml:context>
    <inkml:brush xml:id="br0">
      <inkml:brushProperty name="width" value="0.5" units="cm"/>
      <inkml:brushProperty name="height" value="1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40:21.178"/>
    </inkml:context>
    <inkml:brush xml:id="br0">
      <inkml:brushProperty name="width" value="0.5" units="cm"/>
      <inkml:brushProperty name="height" value="1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40:21.654"/>
    </inkml:context>
    <inkml:brush xml:id="br0">
      <inkml:brushProperty name="width" value="0.5" units="cm"/>
      <inkml:brushProperty name="height" value="1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1,'0'9,"0"3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7T13:40:22.259"/>
    </inkml:context>
    <inkml:brush xml:id="br0">
      <inkml:brushProperty name="width" value="0.5" units="cm"/>
      <inkml:brushProperty name="height" value="1" units="cm"/>
      <inkml:brushProperty name="color" value="#FFFFE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212FD-E3A0-456F-852A-13184CBBA42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8AB95-7DF0-401A-89D0-4ABB69EF7A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089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8AB95-7DF0-401A-89D0-4ABB69EF7AD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54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8AB95-7DF0-401A-89D0-4ABB69EF7AD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069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95B2F-1CE4-D420-53A8-20A1C3AF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02A88-5D58-E047-5F8A-41D050A97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0A73E-87E9-8166-EC3A-E3871BDA7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CAE66-3553-CEC2-6EBD-C5A03D4F49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8AB95-7DF0-401A-89D0-4ABB69EF7AD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225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537D0-E23F-BD8C-38A1-5CC63DF9C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8F884-5AB5-6034-0D53-73D8F5AD6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D1620-CF8A-A285-DEBE-5F255FFA4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F1CDC-C4A2-C014-7C9C-964CC7C6E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8AB95-7DF0-401A-89D0-4ABB69EF7AD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344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D2FA9-0A89-1B08-5A59-A138E6A85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18213-7DE8-D8B1-46BB-5B4F96484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1D08A-2CC0-E50A-594F-8272136F0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BB9F3-EBFA-515B-46D0-0014E9A05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8AB95-7DF0-401A-89D0-4ABB69EF7AD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997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25D7-0863-A210-D0EB-525A40147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8AE14-2390-218A-B8B0-834E64E07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C7285-30B5-3E28-6D5E-B2D98E1CB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ED66E-8ABA-5CDE-83E2-9C3FEF26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8AB95-7DF0-401A-89D0-4ABB69EF7AD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810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0466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7342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02821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56903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78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4364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26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478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07085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8061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5390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2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5.png"/><Relationship Id="rId21" Type="http://schemas.openxmlformats.org/officeDocument/2006/relationships/image" Target="../media/image24.png"/><Relationship Id="rId34" Type="http://schemas.openxmlformats.org/officeDocument/2006/relationships/image" Target="../media/image30.png"/><Relationship Id="rId7" Type="http://schemas.openxmlformats.org/officeDocument/2006/relationships/image" Target="../media/image17.png"/><Relationship Id="rId12" Type="http://schemas.openxmlformats.org/officeDocument/2006/relationships/customXml" Target="../ink/ink6.xml"/><Relationship Id="rId17" Type="http://schemas.openxmlformats.org/officeDocument/2006/relationships/image" Target="../media/image22.png"/><Relationship Id="rId25" Type="http://schemas.openxmlformats.org/officeDocument/2006/relationships/image" Target="../media/image26.png"/><Relationship Id="rId33" Type="http://schemas.openxmlformats.org/officeDocument/2006/relationships/customXml" Target="../ink/ink17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19.png"/><Relationship Id="rId24" Type="http://schemas.openxmlformats.org/officeDocument/2006/relationships/customXml" Target="../ink/ink12.xml"/><Relationship Id="rId32" Type="http://schemas.openxmlformats.org/officeDocument/2006/relationships/image" Target="../media/image29.png"/><Relationship Id="rId5" Type="http://schemas.openxmlformats.org/officeDocument/2006/relationships/image" Target="../media/image16.png"/><Relationship Id="rId15" Type="http://schemas.openxmlformats.org/officeDocument/2006/relationships/image" Target="../media/image21.png"/><Relationship Id="rId23" Type="http://schemas.openxmlformats.org/officeDocument/2006/relationships/image" Target="../media/image25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23.png"/><Relationship Id="rId31" Type="http://schemas.openxmlformats.org/officeDocument/2006/relationships/customXml" Target="../ink/ink16.xml"/><Relationship Id="rId4" Type="http://schemas.openxmlformats.org/officeDocument/2006/relationships/customXml" Target="../ink/ink2.xml"/><Relationship Id="rId9" Type="http://schemas.openxmlformats.org/officeDocument/2006/relationships/image" Target="../media/image18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27.png"/><Relationship Id="rId30" Type="http://schemas.openxmlformats.org/officeDocument/2006/relationships/customXml" Target="../ink/ink15.xml"/><Relationship Id="rId35" Type="http://schemas.openxmlformats.org/officeDocument/2006/relationships/image" Target="../media/image31.png"/><Relationship Id="rId8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DF15BE-7A7F-E629-D98C-10591818B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814" y="1869208"/>
            <a:ext cx="5066592" cy="2111043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Hotel Revenue Analysis &amp; Business Insights for </a:t>
            </a:r>
            <a:r>
              <a:rPr lang="en-IN" sz="3200" b="1" dirty="0" err="1"/>
              <a:t>AtliQ</a:t>
            </a:r>
            <a:r>
              <a:rPr lang="en-IN" sz="3200" b="1" dirty="0"/>
              <a:t> Grands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E8E51B-528A-3ECA-88BE-8322471D8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7782" y="3831103"/>
            <a:ext cx="5066592" cy="1747837"/>
          </a:xfrm>
        </p:spPr>
        <p:txBody>
          <a:bodyPr>
            <a:normAutofit/>
          </a:bodyPr>
          <a:lstStyle/>
          <a:p>
            <a:r>
              <a:rPr lang="en-IN" dirty="0" err="1"/>
              <a:t>AtliQ</a:t>
            </a:r>
            <a:r>
              <a:rPr lang="en-IN" dirty="0"/>
              <a:t> Grands is a well-established hotel in India with over 20 years of experience in the hospitality industry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465CCD-87AE-9351-2236-F878DE890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r="27455"/>
          <a:stretch/>
        </p:blipFill>
        <p:spPr>
          <a:xfrm>
            <a:off x="74940" y="10"/>
            <a:ext cx="5669280" cy="685799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2838"/>
            <a:ext cx="3342291" cy="960875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1701611" y="285553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9740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3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5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1" name="Picture 20" descr="Hi Taffy Cat">
            <a:extLst>
              <a:ext uri="{FF2B5EF4-FFF2-40B4-BE49-F238E27FC236}">
                <a16:creationId xmlns:a16="http://schemas.microsoft.com/office/drawing/2014/main" id="{51EC6BF9-E259-1632-59BA-88947B402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354" y="14985"/>
            <a:ext cx="1658033" cy="1658033"/>
          </a:xfrm>
          <a:prstGeom prst="rect">
            <a:avLst/>
          </a:prstGeom>
        </p:spPr>
      </p:pic>
      <p:pic>
        <p:nvPicPr>
          <p:cNvPr id="30" name="Picture 29" descr="Tongue Out Taffy Cat">
            <a:extLst>
              <a:ext uri="{FF2B5EF4-FFF2-40B4-BE49-F238E27FC236}">
                <a16:creationId xmlns:a16="http://schemas.microsoft.com/office/drawing/2014/main" id="{5839E043-084E-24C6-F3AA-78CA3E3615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666" y="4673418"/>
            <a:ext cx="2111043" cy="211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06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0F34C1-AF80-AEA0-FE49-D30E900ED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81A4E58A-3FAC-00A9-8729-7E10C5C00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6" name="Picture 5" descr="Ahh Taffy Cat">
            <a:extLst>
              <a:ext uri="{FF2B5EF4-FFF2-40B4-BE49-F238E27FC236}">
                <a16:creationId xmlns:a16="http://schemas.microsoft.com/office/drawing/2014/main" id="{8F604F18-247C-7D76-A3AB-5393A16B8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460" y="3242560"/>
            <a:ext cx="2803800" cy="2803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A4E2AA-4E88-9AEB-5A17-08C2A8CB5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225" y="625202"/>
            <a:ext cx="4757587" cy="853359"/>
          </a:xfrm>
        </p:spPr>
        <p:txBody>
          <a:bodyPr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IN" sz="3100" b="1" dirty="0">
                <a:solidFill>
                  <a:schemeClr val="accent3"/>
                </a:solidFill>
              </a:rPr>
              <a:t>Problem Statement :</a:t>
            </a:r>
            <a:br>
              <a:rPr lang="en-IN" sz="3100" dirty="0"/>
            </a:br>
            <a:endParaRPr lang="en-IN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A98EF0-E51D-8E70-DED3-E0A9B2236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29" y="1305699"/>
            <a:ext cx="5161920" cy="49270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800" dirty="0" err="1"/>
              <a:t>AtliQ</a:t>
            </a:r>
            <a:r>
              <a:rPr lang="en-IN" sz="1800" dirty="0"/>
              <a:t> Grands is experiencing a decline in overall business performance, including revenue and market position. The main challenges include:</a:t>
            </a:r>
          </a:p>
          <a:p>
            <a:pPr>
              <a:lnSpc>
                <a:spcPct val="100000"/>
              </a:lnSpc>
            </a:pPr>
            <a:endParaRPr lang="en-IN" sz="1800" dirty="0"/>
          </a:p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1600" b="1" dirty="0"/>
              <a:t>Lack of data-driven decision-making </a:t>
            </a:r>
          </a:p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1600" b="1" dirty="0"/>
              <a:t>Increasing competition in the hotel industry </a:t>
            </a:r>
          </a:p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1600" b="1" dirty="0"/>
              <a:t>Inefficient analysis of business performance </a:t>
            </a:r>
          </a:p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1600" b="1" dirty="0"/>
              <a:t>No dedicated analytics team for insights generation </a:t>
            </a:r>
          </a:p>
          <a:p>
            <a:pPr lvl="0">
              <a:lnSpc>
                <a:spcPct val="100000"/>
              </a:lnSpc>
            </a:pPr>
            <a:endParaRPr lang="en-IN" sz="1600" b="1" dirty="0"/>
          </a:p>
          <a:p>
            <a:pPr>
              <a:lnSpc>
                <a:spcPct val="100000"/>
              </a:lnSpc>
            </a:pPr>
            <a:r>
              <a:rPr lang="en-IN" sz="1800" dirty="0"/>
              <a:t>Because of these issues, the company struggles to clearly understand performance across different business areas such as bookings, occupancy, and revenue trends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6797E37-732F-007B-AD2E-E4FF341B8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21648"/>
            <a:ext cx="1839951" cy="1423657"/>
          </a:xfrm>
          <a:custGeom>
            <a:avLst/>
            <a:gdLst>
              <a:gd name="connsiteX0" fmla="*/ 0 w 2331138"/>
              <a:gd name="connsiteY0" fmla="*/ 0 h 3352676"/>
              <a:gd name="connsiteX1" fmla="*/ 2331138 w 2331138"/>
              <a:gd name="connsiteY1" fmla="*/ 0 h 3352676"/>
              <a:gd name="connsiteX2" fmla="*/ 2331138 w 2331138"/>
              <a:gd name="connsiteY2" fmla="*/ 3352676 h 3352676"/>
              <a:gd name="connsiteX3" fmla="*/ 2097210 w 2331138"/>
              <a:gd name="connsiteY3" fmla="*/ 3226228 h 3352676"/>
              <a:gd name="connsiteX4" fmla="*/ 214881 w 2331138"/>
              <a:gd name="connsiteY4" fmla="*/ 1176738 h 3352676"/>
              <a:gd name="connsiteX5" fmla="*/ 1129 w 2331138"/>
              <a:gd name="connsiteY5" fmla="*/ 67475 h 335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1138" h="3352676">
                <a:moveTo>
                  <a:pt x="0" y="0"/>
                </a:moveTo>
                <a:lnTo>
                  <a:pt x="2331138" y="0"/>
                </a:lnTo>
                <a:lnTo>
                  <a:pt x="2331138" y="3352676"/>
                </a:lnTo>
                <a:lnTo>
                  <a:pt x="2097210" y="3226228"/>
                </a:lnTo>
                <a:cubicBezTo>
                  <a:pt x="1273150" y="2744079"/>
                  <a:pt x="560886" y="2027200"/>
                  <a:pt x="214881" y="1176738"/>
                </a:cubicBezTo>
                <a:cubicBezTo>
                  <a:pt x="72781" y="827511"/>
                  <a:pt x="14297" y="430630"/>
                  <a:pt x="1129" y="6747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9" name="Graphic 78">
            <a:extLst>
              <a:ext uri="{FF2B5EF4-FFF2-40B4-BE49-F238E27FC236}">
                <a16:creationId xmlns:a16="http://schemas.microsoft.com/office/drawing/2014/main" id="{78507D54-1E22-29DF-84A1-7AF69DE4D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40" name="Graphic 78">
              <a:extLst>
                <a:ext uri="{FF2B5EF4-FFF2-40B4-BE49-F238E27FC236}">
                  <a16:creationId xmlns:a16="http://schemas.microsoft.com/office/drawing/2014/main" id="{D06695F7-DEF6-2B24-7994-66E9B060C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aphic 78">
              <a:extLst>
                <a:ext uri="{FF2B5EF4-FFF2-40B4-BE49-F238E27FC236}">
                  <a16:creationId xmlns:a16="http://schemas.microsoft.com/office/drawing/2014/main" id="{E806EBEB-26B7-2951-054B-EE2029E7F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id="{A47A8A97-A35C-551D-0BF2-43C22BF58B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id="{C48BC13F-A59B-7438-8050-A40CB3B3DB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Graphic 78">
                <a:extLst>
                  <a:ext uri="{FF2B5EF4-FFF2-40B4-BE49-F238E27FC236}">
                    <a16:creationId xmlns:a16="http://schemas.microsoft.com/office/drawing/2014/main" id="{70111796-FC5A-FDAF-2E8E-3B23A91D3F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Graphic 78">
                <a:extLst>
                  <a:ext uri="{FF2B5EF4-FFF2-40B4-BE49-F238E27FC236}">
                    <a16:creationId xmlns:a16="http://schemas.microsoft.com/office/drawing/2014/main" id="{16ABF710-FC6B-E6BC-6487-9FBD6B208B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D00C3A80-0B42-78DB-A268-6327D51E6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899042" y="4930329"/>
            <a:ext cx="4292956" cy="1927671"/>
          </a:xfrm>
          <a:custGeom>
            <a:avLst/>
            <a:gdLst>
              <a:gd name="connsiteX0" fmla="*/ 0 w 4238069"/>
              <a:gd name="connsiteY0" fmla="*/ 0 h 1903025"/>
              <a:gd name="connsiteX1" fmla="*/ 113310 w 4238069"/>
              <a:gd name="connsiteY1" fmla="*/ 8960 h 1903025"/>
              <a:gd name="connsiteX2" fmla="*/ 291503 w 4238069"/>
              <a:gd name="connsiteY2" fmla="*/ 37000 h 1903025"/>
              <a:gd name="connsiteX3" fmla="*/ 3082930 w 4238069"/>
              <a:gd name="connsiteY3" fmla="*/ 1104916 h 1903025"/>
              <a:gd name="connsiteX4" fmla="*/ 3881548 w 4238069"/>
              <a:gd name="connsiteY4" fmla="*/ 1668276 h 1903025"/>
              <a:gd name="connsiteX5" fmla="*/ 4238069 w 4238069"/>
              <a:gd name="connsiteY5" fmla="*/ 1903025 h 1903025"/>
              <a:gd name="connsiteX6" fmla="*/ 0 w 4238069"/>
              <a:gd name="connsiteY6" fmla="*/ 1903025 h 190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8069" h="1903025">
                <a:moveTo>
                  <a:pt x="0" y="0"/>
                </a:moveTo>
                <a:lnTo>
                  <a:pt x="113310" y="8960"/>
                </a:lnTo>
                <a:cubicBezTo>
                  <a:pt x="173365" y="16155"/>
                  <a:pt x="232870" y="25632"/>
                  <a:pt x="291503" y="37000"/>
                </a:cubicBezTo>
                <a:cubicBezTo>
                  <a:pt x="1250780" y="222537"/>
                  <a:pt x="2264787" y="499636"/>
                  <a:pt x="3082930" y="1104916"/>
                </a:cubicBezTo>
                <a:cubicBezTo>
                  <a:pt x="3348371" y="1301283"/>
                  <a:pt x="3614239" y="1488349"/>
                  <a:pt x="3881548" y="1668276"/>
                </a:cubicBezTo>
                <a:lnTo>
                  <a:pt x="4238069" y="1903025"/>
                </a:lnTo>
                <a:lnTo>
                  <a:pt x="0" y="190302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86D9CD7-B8D6-EC54-1DE1-78419CD54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447993" y="5742897"/>
            <a:ext cx="886141" cy="802496"/>
            <a:chOff x="10948005" y="3272152"/>
            <a:chExt cx="868640" cy="786648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AE47C0A-FE3D-511F-8AF1-7B597EC97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8A7D30C-46B8-5277-6BCF-8D1219C4A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31DC5A6-BC50-E388-13EA-8FD5F5ADD7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3" name="Graphic 12">
              <a:extLst>
                <a:ext uri="{FF2B5EF4-FFF2-40B4-BE49-F238E27FC236}">
                  <a16:creationId xmlns:a16="http://schemas.microsoft.com/office/drawing/2014/main" id="{BFD24FDB-99A0-8FDB-92EB-606B2B7A9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Graphic 15">
              <a:extLst>
                <a:ext uri="{FF2B5EF4-FFF2-40B4-BE49-F238E27FC236}">
                  <a16:creationId xmlns:a16="http://schemas.microsoft.com/office/drawing/2014/main" id="{8DDC50D4-A187-94D5-DA8D-59788E5E2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Graphic 15">
              <a:extLst>
                <a:ext uri="{FF2B5EF4-FFF2-40B4-BE49-F238E27FC236}">
                  <a16:creationId xmlns:a16="http://schemas.microsoft.com/office/drawing/2014/main" id="{0BA98B46-11BF-F09D-1614-930150D6B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3BAD54E-8B25-ABE3-B4B2-8F5F733FBD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Picture 7" descr="Fear Taffy Cat">
            <a:extLst>
              <a:ext uri="{FF2B5EF4-FFF2-40B4-BE49-F238E27FC236}">
                <a16:creationId xmlns:a16="http://schemas.microsoft.com/office/drawing/2014/main" id="{9D6C69C4-47F1-2FA7-A047-80368BBA1E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695" y="3858354"/>
            <a:ext cx="3598359" cy="3429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6CE0EE-D536-D4FD-76B6-DC53C9148A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8" b="4728"/>
          <a:stretch/>
        </p:blipFill>
        <p:spPr>
          <a:xfrm>
            <a:off x="5974868" y="625735"/>
            <a:ext cx="5677184" cy="280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38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F95F9-7147-1A47-CB7E-2ADAB5FBB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" name="Rectangle 105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10990-0F19-0091-900E-564074BFC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937549"/>
            <a:ext cx="4924028" cy="80104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Project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AE63-06FB-4165-DBD6-1CFF55821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1950721"/>
            <a:ext cx="4924028" cy="434742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sz="1800" dirty="0"/>
              <a:t>The primary objective of this project is to leverage data analysis and visualization techniques to evaluate overall hotel business performance and support informed decision-making.</a:t>
            </a:r>
          </a:p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1800" dirty="0"/>
              <a:t>Create key performance metrics from the given dataset </a:t>
            </a:r>
          </a:p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1800" dirty="0"/>
              <a:t>Develop an interactive dashboard based on stakeholder requirements </a:t>
            </a:r>
          </a:p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1800" dirty="0" err="1"/>
              <a:t>Analyze</a:t>
            </a:r>
            <a:r>
              <a:rPr lang="en-IN" sz="1800" dirty="0"/>
              <a:t> data to generate insights across multiple business views </a:t>
            </a:r>
          </a:p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1800" dirty="0"/>
              <a:t>Support strategic and operational decision-making through data-driven insights</a:t>
            </a:r>
          </a:p>
          <a:p>
            <a:pPr>
              <a:lnSpc>
                <a:spcPct val="100000"/>
              </a:lnSpc>
            </a:pPr>
            <a:endParaRPr lang="en-US" sz="1300" dirty="0"/>
          </a:p>
        </p:txBody>
      </p:sp>
      <p:grpSp>
        <p:nvGrpSpPr>
          <p:cNvPr id="108" name="Graphic 78">
            <a:extLst>
              <a:ext uri="{FF2B5EF4-FFF2-40B4-BE49-F238E27FC236}">
                <a16:creationId xmlns:a16="http://schemas.microsoft.com/office/drawing/2014/main" id="{06B4C967-D337-479B-87CA-7587B7FCF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352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09" name="Graphic 78">
              <a:extLst>
                <a:ext uri="{FF2B5EF4-FFF2-40B4-BE49-F238E27FC236}">
                  <a16:creationId xmlns:a16="http://schemas.microsoft.com/office/drawing/2014/main" id="{6EF1A9DB-7052-4254-8534-9AAED6F6B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0" name="Graphic 78">
              <a:extLst>
                <a:ext uri="{FF2B5EF4-FFF2-40B4-BE49-F238E27FC236}">
                  <a16:creationId xmlns:a16="http://schemas.microsoft.com/office/drawing/2014/main" id="{55D44775-F9E3-4142-8CDB-277AEF2F3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1" name="Graphic 78">
                <a:extLst>
                  <a:ext uri="{FF2B5EF4-FFF2-40B4-BE49-F238E27FC236}">
                    <a16:creationId xmlns:a16="http://schemas.microsoft.com/office/drawing/2014/main" id="{93BB9C83-6DC3-450C-BFAD-0CB5EAD294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Graphic 78">
                <a:extLst>
                  <a:ext uri="{FF2B5EF4-FFF2-40B4-BE49-F238E27FC236}">
                    <a16:creationId xmlns:a16="http://schemas.microsoft.com/office/drawing/2014/main" id="{4E01AF91-A65B-4AE1-96C9-4168BD8F90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Graphic 78">
                <a:extLst>
                  <a:ext uri="{FF2B5EF4-FFF2-40B4-BE49-F238E27FC236}">
                    <a16:creationId xmlns:a16="http://schemas.microsoft.com/office/drawing/2014/main" id="{0AD45C08-DFB9-441F-A901-BCB9B03058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Graphic 78">
                <a:extLst>
                  <a:ext uri="{FF2B5EF4-FFF2-40B4-BE49-F238E27FC236}">
                    <a16:creationId xmlns:a16="http://schemas.microsoft.com/office/drawing/2014/main" id="{E05BEC0E-4EE4-42C4-BF0B-15F9AC5181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2" name="Picture 31" descr="Dream Taffy Cat">
            <a:extLst>
              <a:ext uri="{FF2B5EF4-FFF2-40B4-BE49-F238E27FC236}">
                <a16:creationId xmlns:a16="http://schemas.microsoft.com/office/drawing/2014/main" id="{3AB9F3A7-C4AA-743F-54A8-B1D2BF9CC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380" y="530202"/>
            <a:ext cx="2354444" cy="23544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D96F51-EC4D-83C2-7968-A441DB268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958901" y="261250"/>
            <a:ext cx="3945967" cy="24662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C4D43F-95B1-2082-6F17-2FE05F62C1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46" b="17646"/>
          <a:stretch/>
        </p:blipFill>
        <p:spPr>
          <a:xfrm>
            <a:off x="5902373" y="3127943"/>
            <a:ext cx="3928216" cy="2668628"/>
          </a:xfrm>
          <a:prstGeom prst="rect">
            <a:avLst/>
          </a:prstGeom>
        </p:spPr>
      </p:pic>
      <p:pic>
        <p:nvPicPr>
          <p:cNvPr id="29" name="Picture 28" descr="Angel Taffy Cat">
            <a:extLst>
              <a:ext uri="{FF2B5EF4-FFF2-40B4-BE49-F238E27FC236}">
                <a16:creationId xmlns:a16="http://schemas.microsoft.com/office/drawing/2014/main" id="{26F5B0E3-0591-A4E9-3408-C215CA53FA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138" y="2884646"/>
            <a:ext cx="2668628" cy="2668628"/>
          </a:xfrm>
          <a:prstGeom prst="rect">
            <a:avLst/>
          </a:prstGeom>
        </p:spPr>
      </p:pic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A019653D-2F73-443C-916C-3E9277B4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2681" y="5855744"/>
            <a:ext cx="3104998" cy="1002257"/>
          </a:xfrm>
          <a:custGeom>
            <a:avLst/>
            <a:gdLst>
              <a:gd name="connsiteX0" fmla="*/ 2220651 w 3104998"/>
              <a:gd name="connsiteY0" fmla="*/ 141 h 1002257"/>
              <a:gd name="connsiteX1" fmla="*/ 3076626 w 3104998"/>
              <a:gd name="connsiteY1" fmla="*/ 220708 h 1002257"/>
              <a:gd name="connsiteX2" fmla="*/ 3104998 w 3104998"/>
              <a:gd name="connsiteY2" fmla="*/ 237645 h 1002257"/>
              <a:gd name="connsiteX3" fmla="*/ 3104998 w 3104998"/>
              <a:gd name="connsiteY3" fmla="*/ 1002257 h 1002257"/>
              <a:gd name="connsiteX4" fmla="*/ 0 w 3104998"/>
              <a:gd name="connsiteY4" fmla="*/ 1002257 h 1002257"/>
              <a:gd name="connsiteX5" fmla="*/ 208734 w 3104998"/>
              <a:gd name="connsiteY5" fmla="*/ 868737 h 1002257"/>
              <a:gd name="connsiteX6" fmla="*/ 1364122 w 3104998"/>
              <a:gd name="connsiteY6" fmla="*/ 222705 h 1002257"/>
              <a:gd name="connsiteX7" fmla="*/ 2085269 w 3104998"/>
              <a:gd name="connsiteY7" fmla="*/ 7760 h 1002257"/>
              <a:gd name="connsiteX8" fmla="*/ 2220651 w 3104998"/>
              <a:gd name="connsiteY8" fmla="*/ 141 h 100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04998" h="1002257">
                <a:moveTo>
                  <a:pt x="2220651" y="141"/>
                </a:moveTo>
                <a:cubicBezTo>
                  <a:pt x="2532946" y="-4033"/>
                  <a:pt x="2819845" y="84824"/>
                  <a:pt x="3076626" y="220708"/>
                </a:cubicBezTo>
                <a:lnTo>
                  <a:pt x="3104998" y="237645"/>
                </a:lnTo>
                <a:lnTo>
                  <a:pt x="3104998" y="1002257"/>
                </a:lnTo>
                <a:lnTo>
                  <a:pt x="0" y="1002257"/>
                </a:lnTo>
                <a:lnTo>
                  <a:pt x="208734" y="868737"/>
                </a:lnTo>
                <a:cubicBezTo>
                  <a:pt x="716785" y="552239"/>
                  <a:pt x="1150146" y="315174"/>
                  <a:pt x="1364122" y="222705"/>
                </a:cubicBezTo>
                <a:cubicBezTo>
                  <a:pt x="1588430" y="125724"/>
                  <a:pt x="1824360" y="33775"/>
                  <a:pt x="2085269" y="7760"/>
                </a:cubicBezTo>
                <a:cubicBezTo>
                  <a:pt x="2130905" y="3232"/>
                  <a:pt x="2176037" y="737"/>
                  <a:pt x="2220651" y="141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F3CC54C-8A5F-42B2-80EF-40005E1BB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353866">
            <a:off x="9606391" y="6125716"/>
            <a:ext cx="1513209" cy="1055579"/>
            <a:chOff x="10631877" y="3331293"/>
            <a:chExt cx="1483323" cy="1034734"/>
          </a:xfrm>
          <a:solidFill>
            <a:schemeClr val="accent3"/>
          </a:solidFill>
        </p:grpSpPr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38F654D-6D96-448F-AE05-4E663E789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3EA0687-82A9-47B3-B116-5C1B18D7D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D5F2F7D-9DEC-4069-8E1A-4E3957BE57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983079" y="3331293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22" name="Graphic 12">
              <a:extLst>
                <a:ext uri="{FF2B5EF4-FFF2-40B4-BE49-F238E27FC236}">
                  <a16:creationId xmlns:a16="http://schemas.microsoft.com/office/drawing/2014/main" id="{6E6DDDD8-737D-4E46-B445-AA04E56BD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31877" y="4207203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Graphic 15">
              <a:extLst>
                <a:ext uri="{FF2B5EF4-FFF2-40B4-BE49-F238E27FC236}">
                  <a16:creationId xmlns:a16="http://schemas.microsoft.com/office/drawing/2014/main" id="{C9F66857-2EF8-4463-BE6B-0E8835627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Graphic 15">
              <a:extLst>
                <a:ext uri="{FF2B5EF4-FFF2-40B4-BE49-F238E27FC236}">
                  <a16:creationId xmlns:a16="http://schemas.microsoft.com/office/drawing/2014/main" id="{11DA632B-97A1-4486-8F6A-1334D68142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C8F9C102-1BB5-442E-8596-CD0923CF7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465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64334-DAC9-7E7B-1E00-A1C11B624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12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9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1056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0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1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22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127" name="Rectangle 126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5FBFC3-0CC1-E910-118E-A8D9FE162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5687" y="-15025"/>
            <a:ext cx="6580626" cy="5948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DATA SOURCE &amp; DATA  MODELING</a:t>
            </a:r>
          </a:p>
        </p:txBody>
      </p:sp>
      <p:grpSp>
        <p:nvGrpSpPr>
          <p:cNvPr id="129" name="Graphic 78">
            <a:extLst>
              <a:ext uri="{FF2B5EF4-FFF2-40B4-BE49-F238E27FC236}">
                <a16:creationId xmlns:a16="http://schemas.microsoft.com/office/drawing/2014/main" id="{2EDC2578-BDB0-4118-975D-CFCE02823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4840" y="77610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30" name="Graphic 78">
              <a:extLst>
                <a:ext uri="{FF2B5EF4-FFF2-40B4-BE49-F238E27FC236}">
                  <a16:creationId xmlns:a16="http://schemas.microsoft.com/office/drawing/2014/main" id="{FB6536F0-4A9C-46C9-96E9-22CBB33E6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1" name="Graphic 78">
              <a:extLst>
                <a:ext uri="{FF2B5EF4-FFF2-40B4-BE49-F238E27FC236}">
                  <a16:creationId xmlns:a16="http://schemas.microsoft.com/office/drawing/2014/main" id="{DFD6A33A-F889-42D7-ADC2-DD9B88DF0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32" name="Graphic 78">
                <a:extLst>
                  <a:ext uri="{FF2B5EF4-FFF2-40B4-BE49-F238E27FC236}">
                    <a16:creationId xmlns:a16="http://schemas.microsoft.com/office/drawing/2014/main" id="{C375AFD7-9E86-4D19-B86E-C936D33B0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Graphic 78">
                <a:extLst>
                  <a:ext uri="{FF2B5EF4-FFF2-40B4-BE49-F238E27FC236}">
                    <a16:creationId xmlns:a16="http://schemas.microsoft.com/office/drawing/2014/main" id="{4102C78E-31A2-4DB3-8790-415EB0B48A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Graphic 78">
                <a:extLst>
                  <a:ext uri="{FF2B5EF4-FFF2-40B4-BE49-F238E27FC236}">
                    <a16:creationId xmlns:a16="http://schemas.microsoft.com/office/drawing/2014/main" id="{4F3E144D-8167-438A-B67F-50F5D9C0C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Graphic 78">
                <a:extLst>
                  <a:ext uri="{FF2B5EF4-FFF2-40B4-BE49-F238E27FC236}">
                    <a16:creationId xmlns:a16="http://schemas.microsoft.com/office/drawing/2014/main" id="{4BE2135F-02C1-449F-B195-232E9AFDD6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63D063C0-E9E6-772C-BD7F-DE8CA9B8B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8228" y="1059080"/>
            <a:ext cx="5420527" cy="3397753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r>
              <a:rPr lang="en-IN" dirty="0"/>
              <a:t>Data modelling was performed to establish relationships between fact and dimension tables. By connecting the tables using common columns (keys), a structured data model was created.</a:t>
            </a:r>
          </a:p>
          <a:p>
            <a:r>
              <a:rPr lang="en-IN" dirty="0"/>
              <a:t>This approach helps to: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b="1" dirty="0"/>
              <a:t>Improve data consistency and accuracy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b="1" dirty="0"/>
              <a:t>Enable efficient data analysis across multiple tables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b="1" dirty="0"/>
              <a:t>Increase flexibility while creating calculations and dashboards </a:t>
            </a:r>
          </a:p>
          <a:p>
            <a:r>
              <a:rPr lang="en-IN" dirty="0"/>
              <a:t>The relationships allow seamless integration of data, making it easier to generate insights and build interactive visualizations.</a:t>
            </a:r>
          </a:p>
          <a:p>
            <a:pPr>
              <a:lnSpc>
                <a:spcPct val="100000"/>
              </a:lnSpc>
            </a:pPr>
            <a:endParaRPr lang="en-US" sz="1100" dirty="0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E1BEDD21-8CC9-4E04-B8CF-CE59786DF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6006" y="5984924"/>
            <a:ext cx="2438970" cy="873076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A6DA475A-533E-4A16-A83E-0171FFB6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10877397" y="5710670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EB076CD-5E1A-4B4E-8434-EB36C96CD9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F6EB8026-10C9-4869-9F11-AD4C064F9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49D45E4-020D-4F13-BA0F-A5307EA2A3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3" name="Graphic 12">
              <a:extLst>
                <a:ext uri="{FF2B5EF4-FFF2-40B4-BE49-F238E27FC236}">
                  <a16:creationId xmlns:a16="http://schemas.microsoft.com/office/drawing/2014/main" id="{9C88C3FA-F709-4D00-9E6D-882DB1E28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Graphic 15">
              <a:extLst>
                <a:ext uri="{FF2B5EF4-FFF2-40B4-BE49-F238E27FC236}">
                  <a16:creationId xmlns:a16="http://schemas.microsoft.com/office/drawing/2014/main" id="{7EDA809C-8B77-4778-9050-82BA49976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Graphic 15">
              <a:extLst>
                <a:ext uri="{FF2B5EF4-FFF2-40B4-BE49-F238E27FC236}">
                  <a16:creationId xmlns:a16="http://schemas.microsoft.com/office/drawing/2014/main" id="{592CBFFA-9E14-4482-8D59-A989BAD45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D801BD80-BE9E-4AFB-BEF4-435B40BD2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4" name="Subtitle 2">
            <a:extLst>
              <a:ext uri="{FF2B5EF4-FFF2-40B4-BE49-F238E27FC236}">
                <a16:creationId xmlns:a16="http://schemas.microsoft.com/office/drawing/2014/main" id="{0BEAD689-FA79-C1B9-5582-12C61F6BBEC4}"/>
              </a:ext>
            </a:extLst>
          </p:cNvPr>
          <p:cNvSpPr txBox="1">
            <a:spLocks/>
          </p:cNvSpPr>
          <p:nvPr/>
        </p:nvSpPr>
        <p:spPr>
          <a:xfrm>
            <a:off x="546842" y="1085313"/>
            <a:ext cx="5221498" cy="357138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The dataset for this project consists of multiple CSV  files provided for analysis and dashboard development:</a:t>
            </a:r>
          </a:p>
          <a:p>
            <a:pPr lvl="0"/>
            <a:r>
              <a:rPr lang="en-IN" b="1" dirty="0"/>
              <a:t>2 Fact Tables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3 Dimension Tables</a:t>
            </a:r>
            <a:r>
              <a:rPr lang="en-IN" dirty="0"/>
              <a:t>  </a:t>
            </a:r>
          </a:p>
          <a:p>
            <a:pPr lvl="0"/>
            <a:r>
              <a:rPr lang="en-IN" b="1" dirty="0"/>
              <a:t>1 Metadata File</a:t>
            </a:r>
          </a:p>
          <a:p>
            <a:pPr lvl="0"/>
            <a:r>
              <a:rPr lang="en-IN" b="1" dirty="0"/>
              <a:t>1 Mock-up Dashboard Image</a:t>
            </a:r>
            <a:r>
              <a:rPr lang="en-IN" dirty="0"/>
              <a:t>  </a:t>
            </a:r>
          </a:p>
          <a:p>
            <a:pPr lvl="0"/>
            <a:r>
              <a:rPr lang="en-IN" b="1" dirty="0"/>
              <a:t>1 Metrics File</a:t>
            </a:r>
            <a:r>
              <a:rPr lang="en-IN" dirty="0"/>
              <a:t> </a:t>
            </a:r>
          </a:p>
          <a:p>
            <a:r>
              <a:rPr lang="en-IN" dirty="0"/>
              <a:t>This structured data enables comprehensive analysis from multiple business perspectives.</a:t>
            </a:r>
          </a:p>
          <a:p>
            <a:pPr>
              <a:lnSpc>
                <a:spcPct val="100000"/>
              </a:lnSpc>
            </a:pPr>
            <a:endParaRPr lang="en-US" sz="1100" dirty="0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85455B8C-6E1F-4676-BE79-887AB25131A4}"/>
              </a:ext>
            </a:extLst>
          </p:cNvPr>
          <p:cNvSpPr txBox="1">
            <a:spLocks/>
          </p:cNvSpPr>
          <p:nvPr/>
        </p:nvSpPr>
        <p:spPr>
          <a:xfrm>
            <a:off x="603421" y="692692"/>
            <a:ext cx="1782619" cy="45994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i="0" dirty="0">
                <a:solidFill>
                  <a:schemeClr val="accent3"/>
                </a:solidFill>
              </a:rPr>
              <a:t>DATA SOURCE :</a:t>
            </a: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4CB76F1F-E0C0-3B11-B3A3-3A974FE5EF9D}"/>
              </a:ext>
            </a:extLst>
          </p:cNvPr>
          <p:cNvSpPr txBox="1">
            <a:spLocks/>
          </p:cNvSpPr>
          <p:nvPr/>
        </p:nvSpPr>
        <p:spPr>
          <a:xfrm>
            <a:off x="6132028" y="721196"/>
            <a:ext cx="1912791" cy="32838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i="0" dirty="0">
                <a:solidFill>
                  <a:schemeClr val="accent3"/>
                </a:solidFill>
              </a:rPr>
              <a:t>DATA MODELING: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AB9A3B0A-FD14-022D-4A9D-D65739803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06" y="4923888"/>
            <a:ext cx="5060315" cy="88432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93E79E4-8790-43C5-67DF-011B573BE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407" y="4296626"/>
            <a:ext cx="4246850" cy="2138845"/>
          </a:xfrm>
          <a:prstGeom prst="rect">
            <a:avLst/>
          </a:prstGeom>
        </p:spPr>
      </p:pic>
      <p:pic>
        <p:nvPicPr>
          <p:cNvPr id="60" name="Picture 59" descr="Love Taffy Cat">
            <a:extLst>
              <a:ext uri="{FF2B5EF4-FFF2-40B4-BE49-F238E27FC236}">
                <a16:creationId xmlns:a16="http://schemas.microsoft.com/office/drawing/2014/main" id="{22268DB3-2BEC-90E1-27FF-155DCBFF59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395" y="4986344"/>
            <a:ext cx="2138845" cy="2138845"/>
          </a:xfrm>
          <a:prstGeom prst="rect">
            <a:avLst/>
          </a:prstGeom>
        </p:spPr>
      </p:pic>
      <p:pic>
        <p:nvPicPr>
          <p:cNvPr id="71" name="Picture 70" descr="Tired Taffy Cat">
            <a:extLst>
              <a:ext uri="{FF2B5EF4-FFF2-40B4-BE49-F238E27FC236}">
                <a16:creationId xmlns:a16="http://schemas.microsoft.com/office/drawing/2014/main" id="{DE8B5EE9-588F-4296-E2EF-CB180B63E3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818074" y="4208707"/>
            <a:ext cx="1867684" cy="186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18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4" grpId="0" build="p"/>
      <p:bldP spid="46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4B4BB-73EC-315E-5325-41AEB5036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D3FA7-8CA6-3546-425A-C07867C38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3514" y="982667"/>
            <a:ext cx="5484972" cy="267966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IN" sz="2200" b="1" dirty="0"/>
              <a:t>DATA CLEANING AND PREPROCESSING</a:t>
            </a:r>
            <a:br>
              <a:rPr lang="en-IN" sz="3700" dirty="0"/>
            </a:br>
            <a:endParaRPr lang="en-IN" sz="3700" dirty="0"/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63081" y="3267662"/>
            <a:ext cx="1161320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B00A1D9-3DA8-4595-8774-D2B89E6EE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87322" y="5855744"/>
            <a:ext cx="3104998" cy="1002257"/>
          </a:xfrm>
          <a:custGeom>
            <a:avLst/>
            <a:gdLst>
              <a:gd name="connsiteX0" fmla="*/ 2220651 w 3104998"/>
              <a:gd name="connsiteY0" fmla="*/ 141 h 1002257"/>
              <a:gd name="connsiteX1" fmla="*/ 3076626 w 3104998"/>
              <a:gd name="connsiteY1" fmla="*/ 220708 h 1002257"/>
              <a:gd name="connsiteX2" fmla="*/ 3104998 w 3104998"/>
              <a:gd name="connsiteY2" fmla="*/ 237645 h 1002257"/>
              <a:gd name="connsiteX3" fmla="*/ 3104998 w 3104998"/>
              <a:gd name="connsiteY3" fmla="*/ 1002257 h 1002257"/>
              <a:gd name="connsiteX4" fmla="*/ 0 w 3104998"/>
              <a:gd name="connsiteY4" fmla="*/ 1002257 h 1002257"/>
              <a:gd name="connsiteX5" fmla="*/ 208734 w 3104998"/>
              <a:gd name="connsiteY5" fmla="*/ 868737 h 1002257"/>
              <a:gd name="connsiteX6" fmla="*/ 1364122 w 3104998"/>
              <a:gd name="connsiteY6" fmla="*/ 222705 h 1002257"/>
              <a:gd name="connsiteX7" fmla="*/ 2085269 w 3104998"/>
              <a:gd name="connsiteY7" fmla="*/ 7760 h 1002257"/>
              <a:gd name="connsiteX8" fmla="*/ 2220651 w 3104998"/>
              <a:gd name="connsiteY8" fmla="*/ 141 h 100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04998" h="1002257">
                <a:moveTo>
                  <a:pt x="2220651" y="141"/>
                </a:moveTo>
                <a:cubicBezTo>
                  <a:pt x="2532946" y="-4033"/>
                  <a:pt x="2819845" y="84824"/>
                  <a:pt x="3076626" y="220708"/>
                </a:cubicBezTo>
                <a:lnTo>
                  <a:pt x="3104998" y="237645"/>
                </a:lnTo>
                <a:lnTo>
                  <a:pt x="3104998" y="1002257"/>
                </a:lnTo>
                <a:lnTo>
                  <a:pt x="0" y="1002257"/>
                </a:lnTo>
                <a:lnTo>
                  <a:pt x="208734" y="868737"/>
                </a:lnTo>
                <a:cubicBezTo>
                  <a:pt x="716785" y="552239"/>
                  <a:pt x="1150146" y="315174"/>
                  <a:pt x="1364122" y="222705"/>
                </a:cubicBezTo>
                <a:cubicBezTo>
                  <a:pt x="1588430" y="125724"/>
                  <a:pt x="1824360" y="33775"/>
                  <a:pt x="2085269" y="7760"/>
                </a:cubicBezTo>
                <a:cubicBezTo>
                  <a:pt x="2130905" y="3232"/>
                  <a:pt x="2176037" y="737"/>
                  <a:pt x="2220651" y="141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BBD2F17-FEE7-4279-B4F7-D6DD03A79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353866">
            <a:off x="9634789" y="5881498"/>
            <a:ext cx="1513209" cy="1055579"/>
            <a:chOff x="10631877" y="3331293"/>
            <a:chExt cx="1483323" cy="1034734"/>
          </a:xfrm>
          <a:solidFill>
            <a:schemeClr val="accent6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4483F1B-3536-4F72-9D82-B76C04D865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36F1A89-CA7E-491C-8CEB-A1047BD1F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2F4B4AA-4C5E-48C0-9664-3D02D3A978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983079" y="3331293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id="{ABB5BD64-94E5-41A8-945C-9381D1E67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31877" y="4207203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id="{6BD19F0F-1BB5-4891-9BF5-A13F4952F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id="{8223690E-BC0D-4E8A-BC78-952F5B682F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02F61AF-AA21-42B5-BBE4-DAD35862B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2" name="Picture 3">
            <a:extLst>
              <a:ext uri="{FF2B5EF4-FFF2-40B4-BE49-F238E27FC236}">
                <a16:creationId xmlns:a16="http://schemas.microsoft.com/office/drawing/2014/main" id="{CA0DE4D5-3F98-7DAF-2011-AFCB1D72593E}"/>
              </a:ext>
            </a:extLst>
          </p:cNvPr>
          <p:cNvGrpSpPr/>
          <p:nvPr/>
        </p:nvGrpSpPr>
        <p:grpSpPr>
          <a:xfrm>
            <a:off x="4305295" y="1130464"/>
            <a:ext cx="7218690" cy="383508"/>
            <a:chOff x="2336209" y="1169619"/>
            <a:chExt cx="7218690" cy="383508"/>
          </a:xfrm>
        </p:grpSpPr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E55C857-DC7A-ACA4-1355-7A9D6B394415}"/>
                </a:ext>
              </a:extLst>
            </p:cNvPr>
            <p:cNvSpPr/>
            <p:nvPr/>
          </p:nvSpPr>
          <p:spPr>
            <a:xfrm>
              <a:off x="2336209" y="1169619"/>
              <a:ext cx="3688751" cy="383508"/>
            </a:xfrm>
            <a:custGeom>
              <a:avLst/>
              <a:gdLst>
                <a:gd name="csX0" fmla="*/ 3565793 w 3688751"/>
                <a:gd name="csY0" fmla="*/ 0 h 383508"/>
                <a:gd name="csX1" fmla="*/ 3688752 w 3688751"/>
                <a:gd name="csY1" fmla="*/ 0 h 383508"/>
                <a:gd name="csX2" fmla="*/ 3688752 w 3688751"/>
                <a:gd name="csY2" fmla="*/ 383508 h 383508"/>
                <a:gd name="csX3" fmla="*/ 3565793 w 3688751"/>
                <a:gd name="csY3" fmla="*/ 383508 h 383508"/>
                <a:gd name="csX4" fmla="*/ 122958 w 3688751"/>
                <a:gd name="csY4" fmla="*/ 383508 h 383508"/>
                <a:gd name="csX5" fmla="*/ 0 w 3688751"/>
                <a:gd name="csY5" fmla="*/ 383508 h 383508"/>
                <a:gd name="csX6" fmla="*/ 0 w 3688751"/>
                <a:gd name="csY6" fmla="*/ 0 h 383508"/>
                <a:gd name="csX7" fmla="*/ 122958 w 3688751"/>
                <a:gd name="csY7" fmla="*/ 0 h 3835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688751" h="383508">
                  <a:moveTo>
                    <a:pt x="3565793" y="0"/>
                  </a:moveTo>
                  <a:cubicBezTo>
                    <a:pt x="3633701" y="0"/>
                    <a:pt x="3688752" y="0"/>
                    <a:pt x="3688752" y="0"/>
                  </a:cubicBezTo>
                  <a:lnTo>
                    <a:pt x="3688752" y="383508"/>
                  </a:lnTo>
                  <a:cubicBezTo>
                    <a:pt x="3688752" y="383508"/>
                    <a:pt x="3633701" y="383508"/>
                    <a:pt x="3565793" y="383508"/>
                  </a:cubicBezTo>
                  <a:lnTo>
                    <a:pt x="122958" y="383508"/>
                  </a:lnTo>
                  <a:cubicBezTo>
                    <a:pt x="55050" y="383508"/>
                    <a:pt x="0" y="383508"/>
                    <a:pt x="0" y="383508"/>
                  </a:cubicBezTo>
                  <a:lnTo>
                    <a:pt x="0" y="0"/>
                  </a:lnTo>
                  <a:cubicBezTo>
                    <a:pt x="0" y="0"/>
                    <a:pt x="55050" y="0"/>
                    <a:pt x="122958" y="0"/>
                  </a:cubicBezTo>
                  <a:close/>
                </a:path>
              </a:pathLst>
            </a:custGeom>
            <a:solidFill>
              <a:srgbClr val="0C447C"/>
            </a:solidFill>
            <a:ln w="6275" cap="flat">
              <a:solidFill>
                <a:srgbClr val="85B7E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8C1D3E3D-7E4B-0D8E-9520-2B182CE0B813}"/>
                </a:ext>
              </a:extLst>
            </p:cNvPr>
            <p:cNvSpPr txBox="1"/>
            <p:nvPr/>
          </p:nvSpPr>
          <p:spPr>
            <a:xfrm>
              <a:off x="3389819" y="1171102"/>
              <a:ext cx="1581531" cy="2189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050" spc="0" baseline="0">
                  <a:ln/>
                  <a:solidFill>
                    <a:srgbClr val="B5D4F4"/>
                  </a:solidFill>
                  <a:latin typeface="Segoe UI"/>
                  <a:cs typeface="Segoe UI"/>
                  <a:sym typeface="Segoe UI"/>
                  <a:rtl val="0"/>
                </a:rPr>
                <a:t>Data Cleaning and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737B392-D153-2884-0881-9DB44E9A0B21}"/>
                </a:ext>
              </a:extLst>
            </p:cNvPr>
            <p:cNvSpPr txBox="1"/>
            <p:nvPr/>
          </p:nvSpPr>
          <p:spPr>
            <a:xfrm>
              <a:off x="3557001" y="1308069"/>
              <a:ext cx="1247166" cy="2189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050" spc="0" baseline="0">
                  <a:ln/>
                  <a:solidFill>
                    <a:srgbClr val="B5D4F4"/>
                  </a:solidFill>
                  <a:latin typeface="Segoe UI"/>
                  <a:cs typeface="Segoe UI"/>
                  <a:sym typeface="Segoe UI"/>
                  <a:rtl val="0"/>
                </a:rPr>
                <a:t>Preprocessing</a:t>
              </a:r>
            </a:p>
          </p:txBody>
        </p:sp>
      </p:grp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3FDDB148-372C-9C0B-864B-A61D9C57E1C2}"/>
              </a:ext>
            </a:extLst>
          </p:cNvPr>
          <p:cNvSpPr/>
          <p:nvPr/>
        </p:nvSpPr>
        <p:spPr>
          <a:xfrm>
            <a:off x="6149671" y="1513972"/>
            <a:ext cx="12295" cy="301327"/>
          </a:xfrm>
          <a:custGeom>
            <a:avLst/>
            <a:gdLst>
              <a:gd name="csX0" fmla="*/ 0 w 12295"/>
              <a:gd name="csY0" fmla="*/ 0 h 301327"/>
              <a:gd name="csX1" fmla="*/ 0 w 12295"/>
              <a:gd name="csY1" fmla="*/ 301328 h 3013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295" h="301327">
                <a:moveTo>
                  <a:pt x="0" y="0"/>
                </a:moveTo>
                <a:lnTo>
                  <a:pt x="0" y="301328"/>
                </a:lnTo>
              </a:path>
            </a:pathLst>
          </a:cu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48DEC362-465A-5398-4E59-8D5F25F8708C}"/>
              </a:ext>
            </a:extLst>
          </p:cNvPr>
          <p:cNvSpPr/>
          <p:nvPr/>
        </p:nvSpPr>
        <p:spPr>
          <a:xfrm>
            <a:off x="1986684" y="1776429"/>
            <a:ext cx="8302503" cy="45719"/>
          </a:xfrm>
          <a:custGeom>
            <a:avLst/>
            <a:gdLst>
              <a:gd name="csX0" fmla="*/ 0 w 6516794"/>
              <a:gd name="csY0" fmla="*/ 0 h 6848"/>
              <a:gd name="csX1" fmla="*/ 6516795 w 6516794"/>
              <a:gd name="csY1" fmla="*/ 0 h 684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516794" h="6848">
                <a:moveTo>
                  <a:pt x="0" y="0"/>
                </a:moveTo>
                <a:lnTo>
                  <a:pt x="6516795" y="0"/>
                </a:lnTo>
              </a:path>
            </a:pathLst>
          </a:cu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AD3A13A0-A476-D26A-831E-33151DF621B0}"/>
              </a:ext>
            </a:extLst>
          </p:cNvPr>
          <p:cNvSpPr/>
          <p:nvPr/>
        </p:nvSpPr>
        <p:spPr>
          <a:xfrm>
            <a:off x="1986934" y="1796988"/>
            <a:ext cx="12295" cy="410901"/>
          </a:xfrm>
          <a:custGeom>
            <a:avLst/>
            <a:gdLst>
              <a:gd name="csX0" fmla="*/ 0 w 12295"/>
              <a:gd name="csY0" fmla="*/ 0 h 410901"/>
              <a:gd name="csX1" fmla="*/ 0 w 12295"/>
              <a:gd name="csY1" fmla="*/ 410902 h 41090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295" h="410901">
                <a:moveTo>
                  <a:pt x="0" y="0"/>
                </a:moveTo>
                <a:lnTo>
                  <a:pt x="0" y="410902"/>
                </a:lnTo>
              </a:path>
            </a:pathLst>
          </a:cu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41C93E9C-2198-9979-38E8-F66852F8DF19}"/>
              </a:ext>
            </a:extLst>
          </p:cNvPr>
          <p:cNvSpPr/>
          <p:nvPr/>
        </p:nvSpPr>
        <p:spPr>
          <a:xfrm>
            <a:off x="4731444" y="1815300"/>
            <a:ext cx="262417" cy="410901"/>
          </a:xfrm>
          <a:custGeom>
            <a:avLst/>
            <a:gdLst>
              <a:gd name="csX0" fmla="*/ 0 w 12295"/>
              <a:gd name="csY0" fmla="*/ 0 h 410901"/>
              <a:gd name="csX1" fmla="*/ 0 w 12295"/>
              <a:gd name="csY1" fmla="*/ 410902 h 41090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295" h="410901">
                <a:moveTo>
                  <a:pt x="0" y="0"/>
                </a:moveTo>
                <a:lnTo>
                  <a:pt x="0" y="410902"/>
                </a:lnTo>
              </a:path>
            </a:pathLst>
          </a:cu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D0B011CD-AC76-E63C-3D80-BD518181B0C1}"/>
              </a:ext>
            </a:extLst>
          </p:cNvPr>
          <p:cNvSpPr/>
          <p:nvPr/>
        </p:nvSpPr>
        <p:spPr>
          <a:xfrm>
            <a:off x="7317775" y="1815300"/>
            <a:ext cx="12295" cy="410901"/>
          </a:xfrm>
          <a:custGeom>
            <a:avLst/>
            <a:gdLst>
              <a:gd name="csX0" fmla="*/ 0 w 12295"/>
              <a:gd name="csY0" fmla="*/ 0 h 410901"/>
              <a:gd name="csX1" fmla="*/ 0 w 12295"/>
              <a:gd name="csY1" fmla="*/ 410902 h 41090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295" h="410901">
                <a:moveTo>
                  <a:pt x="0" y="0"/>
                </a:moveTo>
                <a:lnTo>
                  <a:pt x="0" y="410902"/>
                </a:lnTo>
              </a:path>
            </a:pathLst>
          </a:cu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B4359910-3098-49B9-D8A0-C3851EEFC184}"/>
              </a:ext>
            </a:extLst>
          </p:cNvPr>
          <p:cNvSpPr/>
          <p:nvPr/>
        </p:nvSpPr>
        <p:spPr>
          <a:xfrm>
            <a:off x="10207858" y="1733122"/>
            <a:ext cx="45719" cy="493080"/>
          </a:xfrm>
          <a:custGeom>
            <a:avLst/>
            <a:gdLst>
              <a:gd name="csX0" fmla="*/ 0 w 12295"/>
              <a:gd name="csY0" fmla="*/ 0 h 410901"/>
              <a:gd name="csX1" fmla="*/ 0 w 12295"/>
              <a:gd name="csY1" fmla="*/ 410902 h 41090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295" h="410901">
                <a:moveTo>
                  <a:pt x="0" y="0"/>
                </a:moveTo>
                <a:lnTo>
                  <a:pt x="0" y="410902"/>
                </a:lnTo>
              </a:path>
            </a:pathLst>
          </a:cu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42" name="Picture 3">
            <a:extLst>
              <a:ext uri="{FF2B5EF4-FFF2-40B4-BE49-F238E27FC236}">
                <a16:creationId xmlns:a16="http://schemas.microsoft.com/office/drawing/2014/main" id="{FA2741D0-561E-6B8F-737F-B604DA6B8D6D}"/>
              </a:ext>
            </a:extLst>
          </p:cNvPr>
          <p:cNvGrpSpPr/>
          <p:nvPr/>
        </p:nvGrpSpPr>
        <p:grpSpPr>
          <a:xfrm>
            <a:off x="1300904" y="2207890"/>
            <a:ext cx="1352542" cy="493081"/>
            <a:chOff x="245916" y="2265357"/>
            <a:chExt cx="1352542" cy="493081"/>
          </a:xfrm>
        </p:grpSpPr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64AE8BB-6F38-4EA1-97B3-7AB7B9208416}"/>
                </a:ext>
              </a:extLst>
            </p:cNvPr>
            <p:cNvSpPr/>
            <p:nvPr/>
          </p:nvSpPr>
          <p:spPr>
            <a:xfrm>
              <a:off x="245916" y="2265357"/>
              <a:ext cx="1352542" cy="493081"/>
            </a:xfrm>
            <a:custGeom>
              <a:avLst/>
              <a:gdLst>
                <a:gd name="csX0" fmla="*/ 1254176 w 1352542"/>
                <a:gd name="csY0" fmla="*/ 0 h 493081"/>
                <a:gd name="csX1" fmla="*/ 1352542 w 1352542"/>
                <a:gd name="csY1" fmla="*/ 0 h 493081"/>
                <a:gd name="csX2" fmla="*/ 1352542 w 1352542"/>
                <a:gd name="csY2" fmla="*/ 493082 h 493081"/>
                <a:gd name="csX3" fmla="*/ 1254176 w 1352542"/>
                <a:gd name="csY3" fmla="*/ 493082 h 493081"/>
                <a:gd name="csX4" fmla="*/ 98367 w 1352542"/>
                <a:gd name="csY4" fmla="*/ 493082 h 493081"/>
                <a:gd name="csX5" fmla="*/ 0 w 1352542"/>
                <a:gd name="csY5" fmla="*/ 493082 h 493081"/>
                <a:gd name="csX6" fmla="*/ 0 w 1352542"/>
                <a:gd name="csY6" fmla="*/ 0 h 493081"/>
                <a:gd name="csX7" fmla="*/ 98367 w 1352542"/>
                <a:gd name="csY7" fmla="*/ 0 h 4930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352542" h="493081">
                  <a:moveTo>
                    <a:pt x="1254176" y="0"/>
                  </a:moveTo>
                  <a:cubicBezTo>
                    <a:pt x="1308502" y="0"/>
                    <a:pt x="1352542" y="0"/>
                    <a:pt x="1352542" y="0"/>
                  </a:cubicBezTo>
                  <a:lnTo>
                    <a:pt x="1352542" y="493082"/>
                  </a:lnTo>
                  <a:cubicBezTo>
                    <a:pt x="1352542" y="493082"/>
                    <a:pt x="1308502" y="493082"/>
                    <a:pt x="1254176" y="493082"/>
                  </a:cubicBezTo>
                  <a:lnTo>
                    <a:pt x="98367" y="493082"/>
                  </a:lnTo>
                  <a:cubicBezTo>
                    <a:pt x="44040" y="493082"/>
                    <a:pt x="0" y="493082"/>
                    <a:pt x="0" y="493082"/>
                  </a:cubicBezTo>
                  <a:lnTo>
                    <a:pt x="0" y="0"/>
                  </a:lnTo>
                  <a:cubicBezTo>
                    <a:pt x="0" y="0"/>
                    <a:pt x="44040" y="0"/>
                    <a:pt x="98367" y="0"/>
                  </a:cubicBezTo>
                  <a:close/>
                </a:path>
              </a:pathLst>
            </a:custGeom>
            <a:solidFill>
              <a:srgbClr val="085041"/>
            </a:solidFill>
            <a:ln w="5020" cap="flat">
              <a:solidFill>
                <a:srgbClr val="5DCAA5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EAF384E-632B-56BC-6E52-A37A459EE7B2}"/>
                </a:ext>
              </a:extLst>
            </p:cNvPr>
            <p:cNvSpPr txBox="1"/>
            <p:nvPr/>
          </p:nvSpPr>
          <p:spPr>
            <a:xfrm>
              <a:off x="452464" y="2307930"/>
              <a:ext cx="939446" cy="2189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050" spc="0" baseline="0">
                  <a:ln/>
                  <a:solidFill>
                    <a:srgbClr val="9FE1CB"/>
                  </a:solidFill>
                  <a:latin typeface="Segoe UI"/>
                  <a:cs typeface="Segoe UI"/>
                  <a:sym typeface="Segoe UI"/>
                  <a:rtl val="0"/>
                </a:rPr>
                <a:t>Data Type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BF2AA8C-0BBE-3358-DEBF-49ABBA065B32}"/>
                </a:ext>
              </a:extLst>
            </p:cNvPr>
            <p:cNvSpPr txBox="1"/>
            <p:nvPr/>
          </p:nvSpPr>
          <p:spPr>
            <a:xfrm>
              <a:off x="405646" y="2431200"/>
              <a:ext cx="1033082" cy="2189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050" spc="0" baseline="0">
                  <a:ln/>
                  <a:solidFill>
                    <a:srgbClr val="9FE1CB"/>
                  </a:solidFill>
                  <a:latin typeface="Segoe UI"/>
                  <a:cs typeface="Segoe UI"/>
                  <a:sym typeface="Segoe UI"/>
                  <a:rtl val="0"/>
                </a:rPr>
                <a:t>Conversion</a:t>
              </a:r>
            </a:p>
          </p:txBody>
        </p:sp>
      </p:grpSp>
      <p:grpSp>
        <p:nvGrpSpPr>
          <p:cNvPr id="147" name="Picture 3">
            <a:extLst>
              <a:ext uri="{FF2B5EF4-FFF2-40B4-BE49-F238E27FC236}">
                <a16:creationId xmlns:a16="http://schemas.microsoft.com/office/drawing/2014/main" id="{328C7428-AD8E-EC31-AFC5-7F2D91A772B2}"/>
              </a:ext>
            </a:extLst>
          </p:cNvPr>
          <p:cNvGrpSpPr/>
          <p:nvPr/>
        </p:nvGrpSpPr>
        <p:grpSpPr>
          <a:xfrm>
            <a:off x="3817848" y="2197741"/>
            <a:ext cx="1598459" cy="493081"/>
            <a:chOff x="2213250" y="2265357"/>
            <a:chExt cx="1598459" cy="493081"/>
          </a:xfrm>
        </p:grpSpPr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3CE6E249-8C8E-E667-86CA-624939A16D61}"/>
                </a:ext>
              </a:extLst>
            </p:cNvPr>
            <p:cNvSpPr/>
            <p:nvPr/>
          </p:nvSpPr>
          <p:spPr>
            <a:xfrm>
              <a:off x="2213250" y="2265357"/>
              <a:ext cx="1598459" cy="493081"/>
            </a:xfrm>
            <a:custGeom>
              <a:avLst/>
              <a:gdLst>
                <a:gd name="csX0" fmla="*/ 1500092 w 1598459"/>
                <a:gd name="csY0" fmla="*/ 0 h 493081"/>
                <a:gd name="csX1" fmla="*/ 1598459 w 1598459"/>
                <a:gd name="csY1" fmla="*/ 0 h 493081"/>
                <a:gd name="csX2" fmla="*/ 1598459 w 1598459"/>
                <a:gd name="csY2" fmla="*/ 493082 h 493081"/>
                <a:gd name="csX3" fmla="*/ 1500092 w 1598459"/>
                <a:gd name="csY3" fmla="*/ 493082 h 493081"/>
                <a:gd name="csX4" fmla="*/ 98367 w 1598459"/>
                <a:gd name="csY4" fmla="*/ 493082 h 493081"/>
                <a:gd name="csX5" fmla="*/ 0 w 1598459"/>
                <a:gd name="csY5" fmla="*/ 493082 h 493081"/>
                <a:gd name="csX6" fmla="*/ 0 w 1598459"/>
                <a:gd name="csY6" fmla="*/ 0 h 493081"/>
                <a:gd name="csX7" fmla="*/ 98367 w 1598459"/>
                <a:gd name="csY7" fmla="*/ 0 h 4930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598459" h="493081">
                  <a:moveTo>
                    <a:pt x="1500092" y="0"/>
                  </a:moveTo>
                  <a:cubicBezTo>
                    <a:pt x="1554419" y="0"/>
                    <a:pt x="1598459" y="0"/>
                    <a:pt x="1598459" y="0"/>
                  </a:cubicBezTo>
                  <a:lnTo>
                    <a:pt x="1598459" y="493082"/>
                  </a:lnTo>
                  <a:cubicBezTo>
                    <a:pt x="1598459" y="493082"/>
                    <a:pt x="1554419" y="493082"/>
                    <a:pt x="1500092" y="493082"/>
                  </a:cubicBezTo>
                  <a:lnTo>
                    <a:pt x="98367" y="493082"/>
                  </a:lnTo>
                  <a:cubicBezTo>
                    <a:pt x="44040" y="493082"/>
                    <a:pt x="0" y="493082"/>
                    <a:pt x="0" y="493082"/>
                  </a:cubicBezTo>
                  <a:lnTo>
                    <a:pt x="0" y="0"/>
                  </a:lnTo>
                  <a:cubicBezTo>
                    <a:pt x="0" y="0"/>
                    <a:pt x="44040" y="0"/>
                    <a:pt x="98367" y="0"/>
                  </a:cubicBezTo>
                  <a:close/>
                </a:path>
              </a:pathLst>
            </a:custGeom>
            <a:solidFill>
              <a:srgbClr val="085041"/>
            </a:solidFill>
            <a:ln w="5020" cap="flat">
              <a:solidFill>
                <a:srgbClr val="5DCAA5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C1A4F7A2-70B3-AE0F-9520-260C20D6F43D}"/>
                </a:ext>
              </a:extLst>
            </p:cNvPr>
            <p:cNvSpPr txBox="1"/>
            <p:nvPr/>
          </p:nvSpPr>
          <p:spPr>
            <a:xfrm>
              <a:off x="2491918" y="2281759"/>
              <a:ext cx="1274988" cy="2189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050" spc="0" baseline="0" dirty="0">
                  <a:ln/>
                  <a:solidFill>
                    <a:srgbClr val="9FE1CB"/>
                  </a:solidFill>
                  <a:latin typeface="Segoe UI"/>
                  <a:cs typeface="Segoe UI"/>
                  <a:sym typeface="Segoe UI"/>
                  <a:rtl val="0"/>
                </a:rPr>
                <a:t>Handling Data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D3459632-5E84-96EB-9640-E7BB386CC67B}"/>
                </a:ext>
              </a:extLst>
            </p:cNvPr>
            <p:cNvSpPr txBox="1"/>
            <p:nvPr/>
          </p:nvSpPr>
          <p:spPr>
            <a:xfrm>
              <a:off x="2534408" y="2414289"/>
              <a:ext cx="1200264" cy="2189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050" spc="0" baseline="0" dirty="0">
                  <a:ln/>
                  <a:solidFill>
                    <a:srgbClr val="9FE1CB"/>
                  </a:solidFill>
                  <a:latin typeface="Segoe UI"/>
                  <a:cs typeface="Segoe UI"/>
                  <a:sym typeface="Segoe UI"/>
                  <a:rtl val="0"/>
                </a:rPr>
                <a:t>Inconsistency</a:t>
              </a:r>
            </a:p>
          </p:txBody>
        </p:sp>
      </p:grpSp>
      <p:grpSp>
        <p:nvGrpSpPr>
          <p:cNvPr id="152" name="Picture 3">
            <a:extLst>
              <a:ext uri="{FF2B5EF4-FFF2-40B4-BE49-F238E27FC236}">
                <a16:creationId xmlns:a16="http://schemas.microsoft.com/office/drawing/2014/main" id="{2F23100C-2DC2-9470-B49B-D7B96B7BA4DD}"/>
              </a:ext>
            </a:extLst>
          </p:cNvPr>
          <p:cNvGrpSpPr/>
          <p:nvPr/>
        </p:nvGrpSpPr>
        <p:grpSpPr>
          <a:xfrm>
            <a:off x="6518546" y="2226202"/>
            <a:ext cx="1676835" cy="493081"/>
            <a:chOff x="4549460" y="2265357"/>
            <a:chExt cx="1676835" cy="493081"/>
          </a:xfrm>
        </p:grpSpPr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5EC78CDB-2BB5-EB8D-80FE-7F4A3E7030C8}"/>
                </a:ext>
              </a:extLst>
            </p:cNvPr>
            <p:cNvSpPr/>
            <p:nvPr/>
          </p:nvSpPr>
          <p:spPr>
            <a:xfrm>
              <a:off x="4549460" y="2265357"/>
              <a:ext cx="1598459" cy="493081"/>
            </a:xfrm>
            <a:custGeom>
              <a:avLst/>
              <a:gdLst>
                <a:gd name="csX0" fmla="*/ 1500092 w 1598459"/>
                <a:gd name="csY0" fmla="*/ 0 h 493081"/>
                <a:gd name="csX1" fmla="*/ 1598459 w 1598459"/>
                <a:gd name="csY1" fmla="*/ 0 h 493081"/>
                <a:gd name="csX2" fmla="*/ 1598459 w 1598459"/>
                <a:gd name="csY2" fmla="*/ 493082 h 493081"/>
                <a:gd name="csX3" fmla="*/ 1500092 w 1598459"/>
                <a:gd name="csY3" fmla="*/ 493082 h 493081"/>
                <a:gd name="csX4" fmla="*/ 98367 w 1598459"/>
                <a:gd name="csY4" fmla="*/ 493082 h 493081"/>
                <a:gd name="csX5" fmla="*/ 0 w 1598459"/>
                <a:gd name="csY5" fmla="*/ 493082 h 493081"/>
                <a:gd name="csX6" fmla="*/ 0 w 1598459"/>
                <a:gd name="csY6" fmla="*/ 0 h 493081"/>
                <a:gd name="csX7" fmla="*/ 98367 w 1598459"/>
                <a:gd name="csY7" fmla="*/ 0 h 4930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598459" h="493081">
                  <a:moveTo>
                    <a:pt x="1500092" y="0"/>
                  </a:moveTo>
                  <a:cubicBezTo>
                    <a:pt x="1554419" y="0"/>
                    <a:pt x="1598459" y="0"/>
                    <a:pt x="1598459" y="0"/>
                  </a:cubicBezTo>
                  <a:lnTo>
                    <a:pt x="1598459" y="493082"/>
                  </a:lnTo>
                  <a:cubicBezTo>
                    <a:pt x="1598459" y="493082"/>
                    <a:pt x="1554419" y="493082"/>
                    <a:pt x="1500092" y="493082"/>
                  </a:cubicBezTo>
                  <a:lnTo>
                    <a:pt x="98367" y="493082"/>
                  </a:lnTo>
                  <a:cubicBezTo>
                    <a:pt x="44040" y="493082"/>
                    <a:pt x="0" y="493082"/>
                    <a:pt x="0" y="493082"/>
                  </a:cubicBezTo>
                  <a:lnTo>
                    <a:pt x="0" y="0"/>
                  </a:lnTo>
                  <a:cubicBezTo>
                    <a:pt x="0" y="0"/>
                    <a:pt x="44040" y="0"/>
                    <a:pt x="98367" y="0"/>
                  </a:cubicBezTo>
                  <a:close/>
                </a:path>
              </a:pathLst>
            </a:custGeom>
            <a:solidFill>
              <a:srgbClr val="085041"/>
            </a:solidFill>
            <a:ln w="5020" cap="flat">
              <a:solidFill>
                <a:srgbClr val="5DCAA5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3FB3B898-4EB6-AD8A-36D6-63E9A3E54759}"/>
                </a:ext>
              </a:extLst>
            </p:cNvPr>
            <p:cNvSpPr txBox="1"/>
            <p:nvPr/>
          </p:nvSpPr>
          <p:spPr>
            <a:xfrm>
              <a:off x="4722682" y="2278919"/>
              <a:ext cx="1503613" cy="2189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050" spc="0" baseline="0" dirty="0">
                  <a:ln/>
                  <a:solidFill>
                    <a:srgbClr val="9FE1CB"/>
                  </a:solidFill>
                  <a:latin typeface="Segoe UI"/>
                  <a:cs typeface="Segoe UI"/>
                  <a:sym typeface="Segoe UI"/>
                  <a:rtl val="0"/>
                </a:rPr>
                <a:t>Handling Missing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30AD25F6-D493-4A72-57C6-C561D1DF240A}"/>
                </a:ext>
              </a:extLst>
            </p:cNvPr>
            <p:cNvSpPr txBox="1"/>
            <p:nvPr/>
          </p:nvSpPr>
          <p:spPr>
            <a:xfrm>
              <a:off x="5015217" y="2403807"/>
              <a:ext cx="666944" cy="2189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050" spc="0" baseline="0">
                  <a:ln/>
                  <a:solidFill>
                    <a:srgbClr val="9FE1CB"/>
                  </a:solidFill>
                  <a:latin typeface="Segoe UI"/>
                  <a:cs typeface="Segoe UI"/>
                  <a:sym typeface="Segoe UI"/>
                  <a:rtl val="0"/>
                </a:rPr>
                <a:t>Values</a:t>
              </a:r>
            </a:p>
          </p:txBody>
        </p:sp>
      </p:grpSp>
      <p:grpSp>
        <p:nvGrpSpPr>
          <p:cNvPr id="157" name="Picture 3">
            <a:extLst>
              <a:ext uri="{FF2B5EF4-FFF2-40B4-BE49-F238E27FC236}">
                <a16:creationId xmlns:a16="http://schemas.microsoft.com/office/drawing/2014/main" id="{61E1D228-4F96-39D1-1CDF-3EAF25FDD47A}"/>
              </a:ext>
            </a:extLst>
          </p:cNvPr>
          <p:cNvGrpSpPr/>
          <p:nvPr/>
        </p:nvGrpSpPr>
        <p:grpSpPr>
          <a:xfrm>
            <a:off x="9552715" y="2215822"/>
            <a:ext cx="1401725" cy="493081"/>
            <a:chOff x="6738119" y="2265357"/>
            <a:chExt cx="1401725" cy="493081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7E3CE60A-7B7D-50C1-6076-C8371EFB9FCE}"/>
                </a:ext>
              </a:extLst>
            </p:cNvPr>
            <p:cNvSpPr/>
            <p:nvPr/>
          </p:nvSpPr>
          <p:spPr>
            <a:xfrm>
              <a:off x="6738119" y="2265357"/>
              <a:ext cx="1401725" cy="493081"/>
            </a:xfrm>
            <a:custGeom>
              <a:avLst/>
              <a:gdLst>
                <a:gd name="csX0" fmla="*/ 1303359 w 1401725"/>
                <a:gd name="csY0" fmla="*/ 0 h 493081"/>
                <a:gd name="csX1" fmla="*/ 1401726 w 1401725"/>
                <a:gd name="csY1" fmla="*/ 0 h 493081"/>
                <a:gd name="csX2" fmla="*/ 1401726 w 1401725"/>
                <a:gd name="csY2" fmla="*/ 493082 h 493081"/>
                <a:gd name="csX3" fmla="*/ 1303359 w 1401725"/>
                <a:gd name="csY3" fmla="*/ 493082 h 493081"/>
                <a:gd name="csX4" fmla="*/ 98367 w 1401725"/>
                <a:gd name="csY4" fmla="*/ 493082 h 493081"/>
                <a:gd name="csX5" fmla="*/ 0 w 1401725"/>
                <a:gd name="csY5" fmla="*/ 493082 h 493081"/>
                <a:gd name="csX6" fmla="*/ 0 w 1401725"/>
                <a:gd name="csY6" fmla="*/ 0 h 493081"/>
                <a:gd name="csX7" fmla="*/ 98367 w 1401725"/>
                <a:gd name="csY7" fmla="*/ 0 h 4930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01725" h="493081">
                  <a:moveTo>
                    <a:pt x="1303359" y="0"/>
                  </a:moveTo>
                  <a:cubicBezTo>
                    <a:pt x="1357685" y="0"/>
                    <a:pt x="1401726" y="0"/>
                    <a:pt x="1401726" y="0"/>
                  </a:cubicBezTo>
                  <a:lnTo>
                    <a:pt x="1401726" y="493082"/>
                  </a:lnTo>
                  <a:cubicBezTo>
                    <a:pt x="1401726" y="493082"/>
                    <a:pt x="1357685" y="493082"/>
                    <a:pt x="1303359" y="493082"/>
                  </a:cubicBezTo>
                  <a:lnTo>
                    <a:pt x="98367" y="493082"/>
                  </a:lnTo>
                  <a:cubicBezTo>
                    <a:pt x="44040" y="493082"/>
                    <a:pt x="0" y="493082"/>
                    <a:pt x="0" y="493082"/>
                  </a:cubicBezTo>
                  <a:lnTo>
                    <a:pt x="0" y="0"/>
                  </a:lnTo>
                  <a:cubicBezTo>
                    <a:pt x="0" y="0"/>
                    <a:pt x="44040" y="0"/>
                    <a:pt x="98367" y="0"/>
                  </a:cubicBezTo>
                  <a:close/>
                </a:path>
              </a:pathLst>
            </a:custGeom>
            <a:solidFill>
              <a:srgbClr val="085041"/>
            </a:solidFill>
            <a:ln w="5020" cap="flat">
              <a:solidFill>
                <a:srgbClr val="5DCAA5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580426C0-D0A5-1932-AD33-711B3D591B22}"/>
                </a:ext>
              </a:extLst>
            </p:cNvPr>
            <p:cNvSpPr txBox="1"/>
            <p:nvPr/>
          </p:nvSpPr>
          <p:spPr>
            <a:xfrm>
              <a:off x="7063903" y="2307930"/>
              <a:ext cx="750157" cy="2189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050" spc="0" baseline="0">
                  <a:ln/>
                  <a:solidFill>
                    <a:srgbClr val="9FE1CB"/>
                  </a:solidFill>
                  <a:latin typeface="Segoe UI"/>
                  <a:cs typeface="Segoe UI"/>
                  <a:sym typeface="Segoe UI"/>
                  <a:rtl val="0"/>
                </a:rPr>
                <a:t>Feature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4528F17-D873-5351-DFFE-C93CA4429450}"/>
                </a:ext>
              </a:extLst>
            </p:cNvPr>
            <p:cNvSpPr txBox="1"/>
            <p:nvPr/>
          </p:nvSpPr>
          <p:spPr>
            <a:xfrm>
              <a:off x="6894871" y="2431200"/>
              <a:ext cx="1088221" cy="2189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N" sz="1050" spc="0" baseline="0">
                  <a:ln/>
                  <a:solidFill>
                    <a:srgbClr val="9FE1CB"/>
                  </a:solidFill>
                  <a:latin typeface="Segoe UI"/>
                  <a:cs typeface="Segoe UI"/>
                  <a:sym typeface="Segoe UI"/>
                  <a:rtl val="0"/>
                </a:rPr>
                <a:t>Engineering</a:t>
              </a:r>
            </a:p>
          </p:txBody>
        </p:sp>
      </p:grpSp>
      <p:sp>
        <p:nvSpPr>
          <p:cNvPr id="175" name="Subtitle 2">
            <a:extLst>
              <a:ext uri="{FF2B5EF4-FFF2-40B4-BE49-F238E27FC236}">
                <a16:creationId xmlns:a16="http://schemas.microsoft.com/office/drawing/2014/main" id="{CC176D16-8576-5CDD-B842-0A2091812CC5}"/>
              </a:ext>
            </a:extLst>
          </p:cNvPr>
          <p:cNvSpPr txBox="1">
            <a:spLocks/>
          </p:cNvSpPr>
          <p:nvPr/>
        </p:nvSpPr>
        <p:spPr>
          <a:xfrm>
            <a:off x="1102264" y="3017125"/>
            <a:ext cx="1903371" cy="3397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Some columns were converted to appropriate data types to ensure efficiency and accurate calculations. </a:t>
            </a:r>
          </a:p>
          <a:p>
            <a:pPr>
              <a:lnSpc>
                <a:spcPct val="100000"/>
              </a:lnSpc>
            </a:pPr>
            <a:endParaRPr lang="en-US" sz="1100" dirty="0"/>
          </a:p>
        </p:txBody>
      </p:sp>
      <p:sp>
        <p:nvSpPr>
          <p:cNvPr id="178" name="Subtitle 2">
            <a:extLst>
              <a:ext uri="{FF2B5EF4-FFF2-40B4-BE49-F238E27FC236}">
                <a16:creationId xmlns:a16="http://schemas.microsoft.com/office/drawing/2014/main" id="{6683E8F7-D366-37DB-639D-A04790C8E7A2}"/>
              </a:ext>
            </a:extLst>
          </p:cNvPr>
          <p:cNvSpPr txBox="1">
            <a:spLocks/>
          </p:cNvSpPr>
          <p:nvPr/>
        </p:nvSpPr>
        <p:spPr>
          <a:xfrm>
            <a:off x="3754876" y="3017279"/>
            <a:ext cx="1903371" cy="339775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The fact booking table contained data for </a:t>
            </a:r>
            <a:r>
              <a:rPr lang="en-IN" b="1" dirty="0"/>
              <a:t>4 months</a:t>
            </a:r>
            <a:r>
              <a:rPr lang="en-IN" dirty="0"/>
              <a:t>, while the date dimension table included only </a:t>
            </a:r>
            <a:r>
              <a:rPr lang="en-IN" b="1" dirty="0"/>
              <a:t>3 months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To maintain consistency in the data model, the extra one-month data was filtered out from the booking table. </a:t>
            </a:r>
            <a:endParaRPr lang="en-US" sz="1100" dirty="0"/>
          </a:p>
        </p:txBody>
      </p:sp>
      <p:sp>
        <p:nvSpPr>
          <p:cNvPr id="179" name="Subtitle 2">
            <a:extLst>
              <a:ext uri="{FF2B5EF4-FFF2-40B4-BE49-F238E27FC236}">
                <a16:creationId xmlns:a16="http://schemas.microsoft.com/office/drawing/2014/main" id="{DF42B2EB-212E-7928-81C9-7061F658B514}"/>
              </a:ext>
            </a:extLst>
          </p:cNvPr>
          <p:cNvSpPr txBox="1">
            <a:spLocks/>
          </p:cNvSpPr>
          <p:nvPr/>
        </p:nvSpPr>
        <p:spPr>
          <a:xfrm>
            <a:off x="6481849" y="3069806"/>
            <a:ext cx="1903371" cy="3397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/>
              <a:t>Missing values in one of the columns were handled by replacing them with the </a:t>
            </a:r>
            <a:r>
              <a:rPr lang="en-IN" sz="1800" b="1" dirty="0"/>
              <a:t>average value</a:t>
            </a:r>
            <a:r>
              <a:rPr lang="en-IN" sz="1800" dirty="0"/>
              <a:t>, ensuring minimal impact on analysis. </a:t>
            </a:r>
            <a:endParaRPr lang="en-US" sz="900" dirty="0"/>
          </a:p>
        </p:txBody>
      </p:sp>
      <p:sp>
        <p:nvSpPr>
          <p:cNvPr id="180" name="Subtitle 2">
            <a:extLst>
              <a:ext uri="{FF2B5EF4-FFF2-40B4-BE49-F238E27FC236}">
                <a16:creationId xmlns:a16="http://schemas.microsoft.com/office/drawing/2014/main" id="{D6C11AA8-DFB5-E051-7B70-217D4EF70AE8}"/>
              </a:ext>
            </a:extLst>
          </p:cNvPr>
          <p:cNvSpPr txBox="1">
            <a:spLocks/>
          </p:cNvSpPr>
          <p:nvPr/>
        </p:nvSpPr>
        <p:spPr>
          <a:xfrm>
            <a:off x="9487484" y="3063444"/>
            <a:ext cx="1903371" cy="3397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 new column, </a:t>
            </a:r>
            <a:r>
              <a:rPr lang="en-IN" b="1" dirty="0"/>
              <a:t>Week Number</a:t>
            </a:r>
            <a:r>
              <a:rPr lang="en-IN" dirty="0"/>
              <a:t>, was created to support proper sorting and better time-based analysis. </a:t>
            </a:r>
            <a:endParaRPr lang="en-US" sz="11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1199632A-9AA2-A3E5-E499-7ACB9F1E3E4D}"/>
                  </a:ext>
                </a:extLst>
              </p14:cNvPr>
              <p14:cNvContentPartPr/>
              <p14:nvPr/>
            </p14:nvContentPartPr>
            <p14:xfrm>
              <a:off x="5183547" y="3174348"/>
              <a:ext cx="745920" cy="10080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1199632A-9AA2-A3E5-E499-7ACB9F1E3E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29547" y="3066348"/>
                <a:ext cx="85356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47E8CE7-FD9F-4CA4-2136-6B218932DA0E}"/>
                  </a:ext>
                </a:extLst>
              </p14:cNvPr>
              <p14:cNvContentPartPr/>
              <p14:nvPr/>
            </p14:nvContentPartPr>
            <p14:xfrm>
              <a:off x="4961067" y="3264348"/>
              <a:ext cx="865800" cy="57960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47E8CE7-FD9F-4CA4-2136-6B218932DA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7067" y="3156708"/>
                <a:ext cx="973440" cy="79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9BB01F1A-FE57-8AED-2058-83806D765C64}"/>
                  </a:ext>
                </a:extLst>
              </p14:cNvPr>
              <p14:cNvContentPartPr/>
              <p14:nvPr/>
            </p14:nvContentPartPr>
            <p14:xfrm>
              <a:off x="4397667" y="2928108"/>
              <a:ext cx="1078920" cy="64764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9BB01F1A-FE57-8AED-2058-83806D765C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44027" y="2820468"/>
                <a:ext cx="1186560" cy="86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A5A451AD-0681-AA8F-5004-91FFF7A4AA18}"/>
                  </a:ext>
                </a:extLst>
              </p14:cNvPr>
              <p14:cNvContentPartPr/>
              <p14:nvPr/>
            </p14:nvContentPartPr>
            <p14:xfrm>
              <a:off x="5102187" y="3195228"/>
              <a:ext cx="128880" cy="52956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A5A451AD-0681-AA8F-5004-91FFF7A4AA1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48547" y="3087228"/>
                <a:ext cx="236520" cy="74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F923C90C-B178-D977-A7A4-5408D7F1F650}"/>
                  </a:ext>
                </a:extLst>
              </p14:cNvPr>
              <p14:cNvContentPartPr/>
              <p14:nvPr/>
            </p14:nvContentPartPr>
            <p14:xfrm>
              <a:off x="5240067" y="2870868"/>
              <a:ext cx="18360" cy="63144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F923C90C-B178-D977-A7A4-5408D7F1F65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86067" y="2763228"/>
                <a:ext cx="126000" cy="84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F5A0ABA6-C083-71B5-3AD1-158485DAFDF7}"/>
                  </a:ext>
                </a:extLst>
              </p14:cNvPr>
              <p14:cNvContentPartPr/>
              <p14:nvPr/>
            </p14:nvContentPartPr>
            <p14:xfrm>
              <a:off x="5289747" y="2870868"/>
              <a:ext cx="79920" cy="43128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F5A0ABA6-C083-71B5-3AD1-158485DAFDF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35747" y="2763228"/>
                <a:ext cx="187560" cy="6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1177A860-7878-EB3F-3F63-5AE42C4202D3}"/>
                  </a:ext>
                </a:extLst>
              </p14:cNvPr>
              <p14:cNvContentPartPr/>
              <p14:nvPr/>
            </p14:nvContentPartPr>
            <p14:xfrm>
              <a:off x="5318907" y="3097308"/>
              <a:ext cx="71640" cy="31212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1177A860-7878-EB3F-3F63-5AE42C4202D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65267" y="2989308"/>
                <a:ext cx="179280" cy="52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98A28D18-A156-4615-C2D1-1CF1096F3A8F}"/>
                  </a:ext>
                </a:extLst>
              </p14:cNvPr>
              <p14:cNvContentPartPr/>
              <p14:nvPr/>
            </p14:nvContentPartPr>
            <p14:xfrm>
              <a:off x="5123427" y="2526708"/>
              <a:ext cx="372600" cy="42120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98A28D18-A156-4615-C2D1-1CF1096F3A8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69787" y="2419068"/>
                <a:ext cx="480240" cy="63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D6D0DE04-A11A-EE7A-29D5-9DC216D70A06}"/>
                  </a:ext>
                </a:extLst>
              </p14:cNvPr>
              <p14:cNvContentPartPr/>
              <p14:nvPr/>
            </p14:nvContentPartPr>
            <p14:xfrm>
              <a:off x="-737373" y="2414748"/>
              <a:ext cx="561240" cy="22968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D6D0DE04-A11A-EE7A-29D5-9DC216D70A0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-791013" y="2307108"/>
                <a:ext cx="66888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361083AD-3BFB-814B-C82F-43C064097612}"/>
                  </a:ext>
                </a:extLst>
              </p14:cNvPr>
              <p14:cNvContentPartPr/>
              <p14:nvPr/>
            </p14:nvContentPartPr>
            <p14:xfrm>
              <a:off x="5422227" y="4011348"/>
              <a:ext cx="193680" cy="167184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361083AD-3BFB-814B-C82F-43C06409761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68587" y="3903348"/>
                <a:ext cx="301320" cy="18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ADBAE1B4-6C55-27B5-0C92-0579666FEC9E}"/>
                  </a:ext>
                </a:extLst>
              </p14:cNvPr>
              <p14:cNvContentPartPr/>
              <p14:nvPr/>
            </p14:nvContentPartPr>
            <p14:xfrm>
              <a:off x="5623827" y="4326348"/>
              <a:ext cx="360" cy="36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ADBAE1B4-6C55-27B5-0C92-0579666FEC9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569827" y="421834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DFF8E910-28DE-0BFF-65D8-72188F65C62F}"/>
                  </a:ext>
                </a:extLst>
              </p14:cNvPr>
              <p14:cNvContentPartPr/>
              <p14:nvPr/>
            </p14:nvContentPartPr>
            <p14:xfrm>
              <a:off x="5014347" y="3273910"/>
              <a:ext cx="198000" cy="7599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DFF8E910-28DE-0BFF-65D8-72188F65C62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24347" y="3094270"/>
                <a:ext cx="377640" cy="11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8388B21A-1FF3-81DD-5941-6F2B4F35ADB4}"/>
                  </a:ext>
                </a:extLst>
              </p14:cNvPr>
              <p14:cNvContentPartPr/>
              <p14:nvPr/>
            </p14:nvContentPartPr>
            <p14:xfrm>
              <a:off x="5309187" y="3313510"/>
              <a:ext cx="29160" cy="14580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8388B21A-1FF3-81DD-5941-6F2B4F35ADB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19547" y="3133870"/>
                <a:ext cx="20880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74E92E4D-9CD6-1645-4173-9E6F0B671CB2}"/>
                  </a:ext>
                </a:extLst>
              </p14:cNvPr>
              <p14:cNvContentPartPr/>
              <p14:nvPr/>
            </p14:nvContentPartPr>
            <p14:xfrm>
              <a:off x="5299467" y="3401710"/>
              <a:ext cx="360" cy="36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74E92E4D-9CD6-1645-4173-9E6F0B671CB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09827" y="322207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84444C43-1A1A-CABF-6833-9E7E0CFFE9DA}"/>
                  </a:ext>
                </a:extLst>
              </p14:cNvPr>
              <p14:cNvContentPartPr/>
              <p14:nvPr/>
            </p14:nvContentPartPr>
            <p14:xfrm>
              <a:off x="5299467" y="3401710"/>
              <a:ext cx="360" cy="36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84444C43-1A1A-CABF-6833-9E7E0CFFE9D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09827" y="322207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0B89FB33-8D6D-728D-6E13-4C06B5DE8D01}"/>
                  </a:ext>
                </a:extLst>
              </p14:cNvPr>
              <p14:cNvContentPartPr/>
              <p14:nvPr/>
            </p14:nvContentPartPr>
            <p14:xfrm>
              <a:off x="5259867" y="5033950"/>
              <a:ext cx="360" cy="792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0B89FB33-8D6D-728D-6E13-4C06B5DE8D0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170227" y="4854310"/>
                <a:ext cx="18000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1DA7F14C-6039-CF46-E9FB-3355E74A88C7}"/>
                  </a:ext>
                </a:extLst>
              </p14:cNvPr>
              <p14:cNvContentPartPr/>
              <p14:nvPr/>
            </p14:nvContentPartPr>
            <p14:xfrm>
              <a:off x="4188507" y="3569110"/>
              <a:ext cx="360" cy="36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1DA7F14C-6039-CF46-E9FB-3355E74A88C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098507" y="3389110"/>
                <a:ext cx="180000" cy="360000"/>
              </a:xfrm>
              <a:prstGeom prst="rect">
                <a:avLst/>
              </a:prstGeom>
            </p:spPr>
          </p:pic>
        </mc:Fallback>
      </mc:AlternateContent>
      <p:pic>
        <p:nvPicPr>
          <p:cNvPr id="202" name="Picture 201" descr="Like Taffy Cat">
            <a:extLst>
              <a:ext uri="{FF2B5EF4-FFF2-40B4-BE49-F238E27FC236}">
                <a16:creationId xmlns:a16="http://schemas.microsoft.com/office/drawing/2014/main" id="{5071077D-5DBE-6D41-1DB2-176FA87DB67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781696" y="-328402"/>
            <a:ext cx="2743150" cy="2743150"/>
          </a:xfrm>
          <a:prstGeom prst="rect">
            <a:avLst/>
          </a:prstGeom>
        </p:spPr>
      </p:pic>
      <p:pic>
        <p:nvPicPr>
          <p:cNvPr id="204" name="Picture 203" descr="Silly Taffy Cat">
            <a:extLst>
              <a:ext uri="{FF2B5EF4-FFF2-40B4-BE49-F238E27FC236}">
                <a16:creationId xmlns:a16="http://schemas.microsoft.com/office/drawing/2014/main" id="{4B021956-FE8F-84BA-83FA-B99440BCA13A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3294" y="-279354"/>
            <a:ext cx="2477095" cy="247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0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build="p"/>
      <p:bldP spid="178" grpId="0" build="p"/>
      <p:bldP spid="179" grpId="0" build="p"/>
      <p:bldP spid="18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257E53-3A72-FCBD-FF3D-47B5EA86A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2D122D-B98A-87F9-6F6C-DEDFF2404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6053" y="489329"/>
            <a:ext cx="3480862" cy="964082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IN" sz="2800" b="1" dirty="0"/>
              <a:t>DASHBOARD ARCHITACTURE</a:t>
            </a:r>
            <a:br>
              <a:rPr lang="en-IN" sz="3400" dirty="0"/>
            </a:br>
            <a:endParaRPr lang="en-IN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8C7888-7374-2C3D-EC0E-2D046C349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053" y="1392269"/>
            <a:ext cx="11248669" cy="982461"/>
          </a:xfrm>
        </p:spPr>
        <p:txBody>
          <a:bodyPr anchor="t">
            <a:normAutofit/>
          </a:bodyPr>
          <a:lstStyle/>
          <a:p>
            <a:r>
              <a:rPr lang="en-IN" dirty="0"/>
              <a:t>The dashboard is designed to provide a comprehensive view of overall business performance through </a:t>
            </a:r>
            <a:r>
              <a:rPr lang="en-IN" b="1" dirty="0"/>
              <a:t>five key analytical views</a:t>
            </a:r>
            <a:r>
              <a:rPr lang="en-IN" dirty="0"/>
              <a:t>, each focusing on a specific aspect of the hotel operations.</a:t>
            </a:r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id="{674FBD09-398F-4886-8D52-3CCAB16ED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44591" y="971370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id="{794E9BAB-B9ED-4E72-B558-1E4B87537E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aphic 78">
              <a:extLst>
                <a:ext uri="{FF2B5EF4-FFF2-40B4-BE49-F238E27FC236}">
                  <a16:creationId xmlns:a16="http://schemas.microsoft.com/office/drawing/2014/main" id="{809A1029-A1BA-4EF8-959B-2AF852A34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id="{1618CAAA-B087-4302-8144-EFDD1D9FDB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id="{D71D93E1-AEA4-4F92-BA99-24786C8A1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id="{CE7112A6-6EAE-4620-B089-30D687AA0A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id="{6F45DEA9-D350-4D7C-B408-D0250EE30C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11E84B46-9597-410B-A51F-E2E0F2FAF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6006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D4FD378-E29E-4996-A8B0-11E2368A6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10732601" y="535113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BA59DF4-225D-4521-9655-5F0DF52E4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5295146-5EA5-417D-AAEE-F59000BC67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768FE2E-63BB-4E2F-8744-A188E6C61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id="{4641D6CE-B3E9-440C-BAAE-6F6968AAA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id="{8D02F1DC-8FDC-4424-8750-42EE6CB9F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id="{2BB6A551-D864-43F8-B270-809C68AE3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57277C8-A482-4AA3-AFA6-7F211CE35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D5B6FD8-1136-A0D4-877C-F21057057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88" y="2845679"/>
            <a:ext cx="1384377" cy="13843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F5547C-2965-CD1B-9099-F74CE4250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522" y="2554629"/>
            <a:ext cx="1748742" cy="17487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2CD1F4-B1C2-6C77-C570-4B2A3FA44B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4841" y="2603851"/>
            <a:ext cx="1529118" cy="152911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4B10729-5334-18B9-1B20-5C95879325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65196" y="2794442"/>
            <a:ext cx="1461607" cy="14616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22799A5-A171-52DD-0160-659552F2CF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735" y="2768450"/>
            <a:ext cx="1461606" cy="1461606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D453C2BF-BD08-C798-BC4F-BB0273EDBE0B}"/>
              </a:ext>
            </a:extLst>
          </p:cNvPr>
          <p:cNvSpPr txBox="1">
            <a:spLocks/>
          </p:cNvSpPr>
          <p:nvPr/>
        </p:nvSpPr>
        <p:spPr>
          <a:xfrm>
            <a:off x="906834" y="4623775"/>
            <a:ext cx="1108058" cy="11274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IN" sz="1400" b="1" dirty="0"/>
              <a:t>Executive overview</a:t>
            </a:r>
            <a:br>
              <a:rPr lang="en-IN" sz="3400" dirty="0"/>
            </a:br>
            <a:endParaRPr lang="en-IN" sz="3400" dirty="0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DF0F58F2-58CF-8EB4-9F13-73AEBE99D761}"/>
              </a:ext>
            </a:extLst>
          </p:cNvPr>
          <p:cNvSpPr txBox="1">
            <a:spLocks/>
          </p:cNvSpPr>
          <p:nvPr/>
        </p:nvSpPr>
        <p:spPr>
          <a:xfrm>
            <a:off x="3288283" y="4553132"/>
            <a:ext cx="1108058" cy="11274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br>
              <a:rPr lang="en-IN" sz="3400" dirty="0"/>
            </a:br>
            <a:endParaRPr lang="en-IN" sz="3400" dirty="0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C2D3725F-6455-D970-F9C8-407889F9440E}"/>
              </a:ext>
            </a:extLst>
          </p:cNvPr>
          <p:cNvSpPr txBox="1">
            <a:spLocks/>
          </p:cNvSpPr>
          <p:nvPr/>
        </p:nvSpPr>
        <p:spPr>
          <a:xfrm>
            <a:off x="5633421" y="4520744"/>
            <a:ext cx="1108058" cy="11274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IN" sz="1400" b="1" dirty="0"/>
              <a:t>Occupancy &amp; capacity view</a:t>
            </a:r>
            <a:br>
              <a:rPr lang="en-IN" sz="3400" dirty="0"/>
            </a:br>
            <a:endParaRPr lang="en-IN" sz="3400" dirty="0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ACA3E4D9-7E39-8B9C-F576-3B1C9176C8CF}"/>
              </a:ext>
            </a:extLst>
          </p:cNvPr>
          <p:cNvSpPr txBox="1">
            <a:spLocks/>
          </p:cNvSpPr>
          <p:nvPr/>
        </p:nvSpPr>
        <p:spPr>
          <a:xfrm>
            <a:off x="7978559" y="4516875"/>
            <a:ext cx="1108058" cy="11274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IN" sz="1400" b="1" dirty="0"/>
              <a:t>Customer behaviour view</a:t>
            </a:r>
            <a:br>
              <a:rPr lang="en-IN" sz="3400" dirty="0"/>
            </a:br>
            <a:endParaRPr lang="en-IN" sz="3400" dirty="0"/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03814D82-6897-0607-73C1-6A417BF3668F}"/>
              </a:ext>
            </a:extLst>
          </p:cNvPr>
          <p:cNvSpPr txBox="1">
            <a:spLocks/>
          </p:cNvSpPr>
          <p:nvPr/>
        </p:nvSpPr>
        <p:spPr>
          <a:xfrm>
            <a:off x="10257630" y="4479051"/>
            <a:ext cx="1108058" cy="11274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IN" sz="1400" b="1" dirty="0"/>
              <a:t>Customer experience view</a:t>
            </a:r>
            <a:br>
              <a:rPr lang="en-IN" sz="3400" dirty="0"/>
            </a:br>
            <a:endParaRPr lang="en-IN" sz="3400" dirty="0"/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AD645151-B599-B08A-06D9-5952D194E046}"/>
              </a:ext>
            </a:extLst>
          </p:cNvPr>
          <p:cNvSpPr txBox="1">
            <a:spLocks/>
          </p:cNvSpPr>
          <p:nvPr/>
        </p:nvSpPr>
        <p:spPr>
          <a:xfrm>
            <a:off x="3321317" y="4578068"/>
            <a:ext cx="1108058" cy="11274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IN" sz="1400" b="1" dirty="0"/>
              <a:t>Revenue &amp;financial view</a:t>
            </a:r>
            <a:br>
              <a:rPr lang="en-IN" sz="3400" dirty="0"/>
            </a:br>
            <a:endParaRPr lang="en-IN" sz="3400" dirty="0"/>
          </a:p>
        </p:txBody>
      </p:sp>
      <p:pic>
        <p:nvPicPr>
          <p:cNvPr id="58" name="Picture 57" descr="Cool Taffy Cat">
            <a:extLst>
              <a:ext uri="{FF2B5EF4-FFF2-40B4-BE49-F238E27FC236}">
                <a16:creationId xmlns:a16="http://schemas.microsoft.com/office/drawing/2014/main" id="{485C00F9-1B6E-47FA-6E28-E2E740D798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016" y="4979927"/>
            <a:ext cx="1975590" cy="1975590"/>
          </a:xfrm>
          <a:prstGeom prst="rect">
            <a:avLst/>
          </a:prstGeom>
        </p:spPr>
      </p:pic>
      <p:pic>
        <p:nvPicPr>
          <p:cNvPr id="60" name="Picture 59" descr="Love Taffy Cat">
            <a:extLst>
              <a:ext uri="{FF2B5EF4-FFF2-40B4-BE49-F238E27FC236}">
                <a16:creationId xmlns:a16="http://schemas.microsoft.com/office/drawing/2014/main" id="{30B4E0C8-8189-4F64-5BF1-CC1111920C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880" y="4973799"/>
            <a:ext cx="2153701" cy="215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87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CDA3E-91A8-F132-4F1F-6E366C65F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7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4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1056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5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6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77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20FC6-CBBD-1FCA-485A-172B6C195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558" y="165803"/>
            <a:ext cx="4036122" cy="88667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2200" dirty="0"/>
              <a:t>Executive overview insights :</a:t>
            </a:r>
            <a:br>
              <a:rPr lang="en-US" sz="3600" dirty="0"/>
            </a:br>
            <a:endParaRPr lang="en-US" sz="3600" dirty="0"/>
          </a:p>
        </p:txBody>
      </p:sp>
      <p:grpSp>
        <p:nvGrpSpPr>
          <p:cNvPr id="84" name="Graphic 78">
            <a:extLst>
              <a:ext uri="{FF2B5EF4-FFF2-40B4-BE49-F238E27FC236}">
                <a16:creationId xmlns:a16="http://schemas.microsoft.com/office/drawing/2014/main" id="{2EDC2578-BDB0-4118-975D-CFCE02823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4840" y="77610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5" name="Graphic 78">
              <a:extLst>
                <a:ext uri="{FF2B5EF4-FFF2-40B4-BE49-F238E27FC236}">
                  <a16:creationId xmlns:a16="http://schemas.microsoft.com/office/drawing/2014/main" id="{FB6536F0-4A9C-46C9-96E9-22CBB33E6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aphic 78">
              <a:extLst>
                <a:ext uri="{FF2B5EF4-FFF2-40B4-BE49-F238E27FC236}">
                  <a16:creationId xmlns:a16="http://schemas.microsoft.com/office/drawing/2014/main" id="{DFD6A33A-F889-42D7-ADC2-DD9B88DF0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87" name="Graphic 78">
                <a:extLst>
                  <a:ext uri="{FF2B5EF4-FFF2-40B4-BE49-F238E27FC236}">
                    <a16:creationId xmlns:a16="http://schemas.microsoft.com/office/drawing/2014/main" id="{C375AFD7-9E86-4D19-B86E-C936D33B0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Graphic 78">
                <a:extLst>
                  <a:ext uri="{FF2B5EF4-FFF2-40B4-BE49-F238E27FC236}">
                    <a16:creationId xmlns:a16="http://schemas.microsoft.com/office/drawing/2014/main" id="{4102C78E-31A2-4DB3-8790-415EB0B48A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Graphic 78">
                <a:extLst>
                  <a:ext uri="{FF2B5EF4-FFF2-40B4-BE49-F238E27FC236}">
                    <a16:creationId xmlns:a16="http://schemas.microsoft.com/office/drawing/2014/main" id="{4F3E144D-8167-438A-B67F-50F5D9C0C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Graphic 78">
                <a:extLst>
                  <a:ext uri="{FF2B5EF4-FFF2-40B4-BE49-F238E27FC236}">
                    <a16:creationId xmlns:a16="http://schemas.microsoft.com/office/drawing/2014/main" id="{4BE2135F-02C1-449F-B195-232E9AFDD6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E1BEDD21-8CC9-4E04-B8CF-CE59786DF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6006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6DA475A-533E-4A16-A83E-0171FFB6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10732601" y="535113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EB076CD-5E1A-4B4E-8434-EB36C96CD9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6EB8026-10C9-4869-9F11-AD4C064F9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49D45E4-020D-4F13-BA0F-A5307EA2A3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8" name="Graphic 12">
              <a:extLst>
                <a:ext uri="{FF2B5EF4-FFF2-40B4-BE49-F238E27FC236}">
                  <a16:creationId xmlns:a16="http://schemas.microsoft.com/office/drawing/2014/main" id="{9C88C3FA-F709-4D00-9E6D-882DB1E28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Graphic 15">
              <a:extLst>
                <a:ext uri="{FF2B5EF4-FFF2-40B4-BE49-F238E27FC236}">
                  <a16:creationId xmlns:a16="http://schemas.microsoft.com/office/drawing/2014/main" id="{7EDA809C-8B77-4778-9050-82BA49976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Graphic 15">
              <a:extLst>
                <a:ext uri="{FF2B5EF4-FFF2-40B4-BE49-F238E27FC236}">
                  <a16:creationId xmlns:a16="http://schemas.microsoft.com/office/drawing/2014/main" id="{592CBFFA-9E14-4482-8D59-A989BAD45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801BD80-BE9E-4AFB-BEF4-435B40BD2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2A66F20-3683-B6B4-E875-0BF966789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796" y="173193"/>
            <a:ext cx="7027983" cy="4008977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4CDFF216-A099-CA5E-FEA3-3EBD7A26E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054" y="655320"/>
            <a:ext cx="4320194" cy="6036877"/>
          </a:xfrm>
        </p:spPr>
        <p:txBody>
          <a:bodyPr anchor="t">
            <a:normAutofit fontScale="92500" lnSpcReduction="20000"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Revenue declined by 11.61%, while occupancy (~58%) and ratings (~3.26) remained stable.</a:t>
            </a:r>
            <a:br>
              <a:rPr lang="en-IN" dirty="0"/>
            </a:br>
            <a:r>
              <a:rPr lang="en-IN" dirty="0"/>
              <a:t>👉 Indicates issue with pricing or revenue strategy, not demand.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Mumbai is the top revenue contributor, while Delhi has highest occupancy but lowest revenue.</a:t>
            </a:r>
            <a:br>
              <a:rPr lang="en-IN" dirty="0"/>
            </a:br>
            <a:r>
              <a:rPr lang="en-IN" dirty="0"/>
              <a:t>👉 Suggests pricing imbalance across cities.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 err="1"/>
              <a:t>Atliq</a:t>
            </a:r>
            <a:r>
              <a:rPr lang="en-IN" dirty="0"/>
              <a:t> Seasons is underperforming in both revenue and occupancy.</a:t>
            </a:r>
            <a:br>
              <a:rPr lang="en-IN" dirty="0"/>
            </a:br>
            <a:r>
              <a:rPr lang="en-IN" dirty="0"/>
              <a:t>👉 Needs improvement or strategic review.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Weekend occupancy (74%) is much higher than weekdays (51%).</a:t>
            </a:r>
            <a:br>
              <a:rPr lang="en-IN" dirty="0"/>
            </a:br>
            <a:r>
              <a:rPr lang="en-IN" dirty="0"/>
              <a:t>👉 Shows weak weekday demand</a:t>
            </a:r>
            <a:r>
              <a:rPr lang="en-IN" sz="1800" dirty="0"/>
              <a:t>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FD0AEAF-2EE6-35D1-BE06-E4C8A0264AD7}"/>
              </a:ext>
            </a:extLst>
          </p:cNvPr>
          <p:cNvSpPr txBox="1">
            <a:spLocks/>
          </p:cNvSpPr>
          <p:nvPr/>
        </p:nvSpPr>
        <p:spPr>
          <a:xfrm>
            <a:off x="4927796" y="4308903"/>
            <a:ext cx="7027983" cy="25490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/>
              <a:t>🚀 Recommendations</a:t>
            </a: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Optimize pricing (ADR)</a:t>
            </a:r>
            <a:r>
              <a:rPr lang="en-IN" sz="1600" dirty="0"/>
              <a:t> to fix revenue drop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Increase weekday demand</a:t>
            </a:r>
            <a:r>
              <a:rPr lang="en-IN" sz="1600" dirty="0"/>
              <a:t> (offers, corporate bookings)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Adjust city-level pricing strategies</a:t>
            </a:r>
            <a:r>
              <a:rPr lang="en-IN" sz="16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Improve or review underperforming properties</a:t>
            </a:r>
            <a:r>
              <a:rPr lang="en-IN" sz="16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Enhance customer experience</a:t>
            </a:r>
            <a:r>
              <a:rPr lang="en-IN" sz="1600" dirty="0"/>
              <a:t> to boost ratings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 err="1"/>
              <a:t>Analyze</a:t>
            </a:r>
            <a:r>
              <a:rPr lang="en-IN" sz="1600" b="1" dirty="0"/>
              <a:t> recent revenue drop trend</a:t>
            </a:r>
            <a:r>
              <a:rPr lang="en-IN" sz="1600" dirty="0"/>
              <a:t> and apply seasonal strategies</a:t>
            </a:r>
          </a:p>
        </p:txBody>
      </p:sp>
      <p:pic>
        <p:nvPicPr>
          <p:cNvPr id="14" name="Picture 13" descr="Go! Taffy Cat">
            <a:extLst>
              <a:ext uri="{FF2B5EF4-FFF2-40B4-BE49-F238E27FC236}">
                <a16:creationId xmlns:a16="http://schemas.microsoft.com/office/drawing/2014/main" id="{5B8EF21D-FE0F-67B8-177D-96A58FCD10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756" y="4455758"/>
            <a:ext cx="2442536" cy="2442536"/>
          </a:xfrm>
          <a:prstGeom prst="rect">
            <a:avLst/>
          </a:prstGeom>
        </p:spPr>
      </p:pic>
      <p:pic>
        <p:nvPicPr>
          <p:cNvPr id="16" name="Picture 15" descr="Movie? Taffy Cat">
            <a:extLst>
              <a:ext uri="{FF2B5EF4-FFF2-40B4-BE49-F238E27FC236}">
                <a16:creationId xmlns:a16="http://schemas.microsoft.com/office/drawing/2014/main" id="{499A25C8-8765-61AE-B8FE-ABCBE49AC0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595" y="5618563"/>
            <a:ext cx="1425001" cy="142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4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8556D-3636-F6DC-2911-4E837B4E5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8513606-71AA-730E-C0BC-5D062D16B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7D88911-EAA1-0625-E814-B41D3185E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AE7B700-19F9-33DD-7635-A1F7267816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F9D5B11-1011-F2BA-2232-D914289BA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FAC6E88-4719-DB02-E968-2E2705574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7" name="Graphic 12">
              <a:extLst>
                <a:ext uri="{FF2B5EF4-FFF2-40B4-BE49-F238E27FC236}">
                  <a16:creationId xmlns:a16="http://schemas.microsoft.com/office/drawing/2014/main" id="{56BFD991-935D-13AA-DB98-C44681A11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Graphic 15">
              <a:extLst>
                <a:ext uri="{FF2B5EF4-FFF2-40B4-BE49-F238E27FC236}">
                  <a16:creationId xmlns:a16="http://schemas.microsoft.com/office/drawing/2014/main" id="{2387BF6D-4A51-E7B4-81D2-EC2D4F883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Graphic 15">
              <a:extLst>
                <a:ext uri="{FF2B5EF4-FFF2-40B4-BE49-F238E27FC236}">
                  <a16:creationId xmlns:a16="http://schemas.microsoft.com/office/drawing/2014/main" id="{6CDA21D8-2E32-FAE3-5BB4-68AD125BD2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F7D4D3B-B0C8-F0C6-F69A-0B3E93447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BF79FAC3-A0C8-9B5A-EAE0-3D73080A1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4" name="Graphic 78">
            <a:extLst>
              <a:ext uri="{FF2B5EF4-FFF2-40B4-BE49-F238E27FC236}">
                <a16:creationId xmlns:a16="http://schemas.microsoft.com/office/drawing/2014/main" id="{A45234D3-905D-C87E-F176-A728C5ADB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1056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5" name="Graphic 78">
              <a:extLst>
                <a:ext uri="{FF2B5EF4-FFF2-40B4-BE49-F238E27FC236}">
                  <a16:creationId xmlns:a16="http://schemas.microsoft.com/office/drawing/2014/main" id="{C02680E0-C1F1-612F-2825-75180A4030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6" name="Graphic 78">
              <a:extLst>
                <a:ext uri="{FF2B5EF4-FFF2-40B4-BE49-F238E27FC236}">
                  <a16:creationId xmlns:a16="http://schemas.microsoft.com/office/drawing/2014/main" id="{3749792E-6D6A-A606-106D-AC6545D66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77" name="Graphic 78">
                <a:extLst>
                  <a:ext uri="{FF2B5EF4-FFF2-40B4-BE49-F238E27FC236}">
                    <a16:creationId xmlns:a16="http://schemas.microsoft.com/office/drawing/2014/main" id="{C3E7CE54-5EE6-6BF1-3FB6-79020DED9E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Graphic 78">
                <a:extLst>
                  <a:ext uri="{FF2B5EF4-FFF2-40B4-BE49-F238E27FC236}">
                    <a16:creationId xmlns:a16="http://schemas.microsoft.com/office/drawing/2014/main" id="{106E7793-42A4-1209-CB27-774835461D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Graphic 78">
                <a:extLst>
                  <a:ext uri="{FF2B5EF4-FFF2-40B4-BE49-F238E27FC236}">
                    <a16:creationId xmlns:a16="http://schemas.microsoft.com/office/drawing/2014/main" id="{AE962EDF-7C3C-9F30-70C4-AEDC4BC5A5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Graphic 78">
                <a:extLst>
                  <a:ext uri="{FF2B5EF4-FFF2-40B4-BE49-F238E27FC236}">
                    <a16:creationId xmlns:a16="http://schemas.microsoft.com/office/drawing/2014/main" id="{F933B40B-C489-13EF-578D-ACBD98B187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10A87FBF-A363-7604-72DA-78E5323BC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065CF-10B5-91B6-BC94-9B72FE410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558" y="165803"/>
            <a:ext cx="4036122" cy="88667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2200" dirty="0"/>
              <a:t>Revenue &amp; Financial insights:</a:t>
            </a:r>
            <a:br>
              <a:rPr lang="en-US" sz="3600" dirty="0"/>
            </a:br>
            <a:endParaRPr lang="en-US" sz="3600" dirty="0"/>
          </a:p>
        </p:txBody>
      </p:sp>
      <p:grpSp>
        <p:nvGrpSpPr>
          <p:cNvPr id="84" name="Graphic 78">
            <a:extLst>
              <a:ext uri="{FF2B5EF4-FFF2-40B4-BE49-F238E27FC236}">
                <a16:creationId xmlns:a16="http://schemas.microsoft.com/office/drawing/2014/main" id="{F3F935F1-18D5-9CBE-FF23-7C0E498D6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4840" y="77610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5" name="Graphic 78">
              <a:extLst>
                <a:ext uri="{FF2B5EF4-FFF2-40B4-BE49-F238E27FC236}">
                  <a16:creationId xmlns:a16="http://schemas.microsoft.com/office/drawing/2014/main" id="{3FD113A0-B7B0-A4F9-2590-E5AC3C647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aphic 78">
              <a:extLst>
                <a:ext uri="{FF2B5EF4-FFF2-40B4-BE49-F238E27FC236}">
                  <a16:creationId xmlns:a16="http://schemas.microsoft.com/office/drawing/2014/main" id="{9CD33B21-91B2-65F3-FBCD-6E31F2D20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87" name="Graphic 78">
                <a:extLst>
                  <a:ext uri="{FF2B5EF4-FFF2-40B4-BE49-F238E27FC236}">
                    <a16:creationId xmlns:a16="http://schemas.microsoft.com/office/drawing/2014/main" id="{18814D6F-D605-8C5C-85D8-3F2E3B68AF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Graphic 78">
                <a:extLst>
                  <a:ext uri="{FF2B5EF4-FFF2-40B4-BE49-F238E27FC236}">
                    <a16:creationId xmlns:a16="http://schemas.microsoft.com/office/drawing/2014/main" id="{DC929519-DDB8-781C-B7E5-47DB09D0B5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Graphic 78">
                <a:extLst>
                  <a:ext uri="{FF2B5EF4-FFF2-40B4-BE49-F238E27FC236}">
                    <a16:creationId xmlns:a16="http://schemas.microsoft.com/office/drawing/2014/main" id="{81B60157-89FB-B34F-D5E2-11F5A5DE45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Graphic 78">
                <a:extLst>
                  <a:ext uri="{FF2B5EF4-FFF2-40B4-BE49-F238E27FC236}">
                    <a16:creationId xmlns:a16="http://schemas.microsoft.com/office/drawing/2014/main" id="{A5114286-3947-DD29-B44D-96CF9B072C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34C4EF6D-6A29-3829-2D9B-9C8A89AEB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6006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AA56465-20C5-27C9-47F1-CDCC63062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10732601" y="535113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E2132F7-259E-F481-6468-540BA164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2A29461-F88C-D623-270D-4C9D0BC7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1F58C35-FF91-024C-21CA-28D88ABFF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8" name="Graphic 12">
              <a:extLst>
                <a:ext uri="{FF2B5EF4-FFF2-40B4-BE49-F238E27FC236}">
                  <a16:creationId xmlns:a16="http://schemas.microsoft.com/office/drawing/2014/main" id="{0B30F997-0DB1-15FC-1C74-4B0809CA7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Graphic 15">
              <a:extLst>
                <a:ext uri="{FF2B5EF4-FFF2-40B4-BE49-F238E27FC236}">
                  <a16:creationId xmlns:a16="http://schemas.microsoft.com/office/drawing/2014/main" id="{E756B6C5-D966-5146-64E5-DEBA171D4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Graphic 15">
              <a:extLst>
                <a:ext uri="{FF2B5EF4-FFF2-40B4-BE49-F238E27FC236}">
                  <a16:creationId xmlns:a16="http://schemas.microsoft.com/office/drawing/2014/main" id="{C39E4D33-24EE-97C6-C4F1-B945BCD69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AE1FC88A-3DD3-CEBD-27D0-34F9399B0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26F05F1C-0252-D5CE-2101-9C46F5249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054" y="655320"/>
            <a:ext cx="4320194" cy="6036877"/>
          </a:xfrm>
        </p:spPr>
        <p:txBody>
          <a:bodyPr anchor="t">
            <a:normAutofit fontScale="92500" lnSpcReduction="10000"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800" dirty="0"/>
              <a:t>RevPAR declined by 14%, while ADR increased by 1%.</a:t>
            </a:r>
            <a:br>
              <a:rPr lang="en-IN" sz="1800" dirty="0"/>
            </a:br>
            <a:r>
              <a:rPr lang="en-IN" sz="1800" dirty="0"/>
              <a:t>👉 Indicates lower revenue efficiency, possibly due to reduced occupancy or ineffective pricing/discount strategy.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800" dirty="0"/>
              <a:t>Elite category generates the highest revenue (~536.9M), followed by Premium, while Standard is the lowest (~296.7M).</a:t>
            </a:r>
            <a:br>
              <a:rPr lang="en-IN" sz="1800" dirty="0"/>
            </a:br>
            <a:r>
              <a:rPr lang="en-IN" sz="1800" dirty="0"/>
              <a:t>👉 Suggests lower demand or weaker value perception in Standard category.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800" dirty="0"/>
              <a:t>Weekly revenue trend shows fluctuations with a sharp drop in Week 32.</a:t>
            </a:r>
            <a:br>
              <a:rPr lang="en-IN" sz="1800" dirty="0"/>
            </a:br>
            <a:r>
              <a:rPr lang="en-IN" sz="1800" dirty="0"/>
              <a:t>👉 Indicates possible seasonal drop or external factors affecting demand.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800" dirty="0"/>
              <a:t>City and property insights remain consistent with earlier findings (Mumbai leading, some properties underperforming).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6AA4175-11F9-30AB-55BF-0940DF52DDE2}"/>
              </a:ext>
            </a:extLst>
          </p:cNvPr>
          <p:cNvSpPr txBox="1">
            <a:spLocks/>
          </p:cNvSpPr>
          <p:nvPr/>
        </p:nvSpPr>
        <p:spPr>
          <a:xfrm>
            <a:off x="4927796" y="4308903"/>
            <a:ext cx="7027983" cy="25490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/>
              <a:t>🚀 Recommendations</a:t>
            </a:r>
            <a:endParaRPr lang="en-IN" sz="1600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b="1" dirty="0"/>
              <a:t>Improve RevPAR</a:t>
            </a:r>
            <a:r>
              <a:rPr lang="en-IN" sz="1700" dirty="0"/>
              <a:t> by balancing pricing and occupancy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b="1" dirty="0"/>
              <a:t>Enhance Standard category</a:t>
            </a:r>
            <a:r>
              <a:rPr lang="en-IN" sz="1700" dirty="0"/>
              <a:t> (better services, pricing, offers)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b="1" dirty="0"/>
              <a:t>Investigate Week 32 drop</a:t>
            </a:r>
            <a:r>
              <a:rPr lang="en-IN" sz="1700" dirty="0"/>
              <a:t> and apply corrective strategies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b="1" dirty="0"/>
              <a:t>Optimize discount strategies</a:t>
            </a:r>
            <a:r>
              <a:rPr lang="en-IN" sz="1700" dirty="0"/>
              <a:t> to avoid revenue loss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1700" b="1" dirty="0"/>
              <a:t>Focus on high-performing categories</a:t>
            </a:r>
            <a:r>
              <a:rPr lang="en-IN" sz="1700" dirty="0"/>
              <a:t> while improving low-performing ones</a:t>
            </a:r>
            <a:endParaRPr lang="en-IN" sz="1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DD3DBD-E9AF-CF13-F375-7B46E83B3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419" y="165802"/>
            <a:ext cx="6975527" cy="4054001"/>
          </a:xfrm>
          <a:prstGeom prst="rect">
            <a:avLst/>
          </a:prstGeom>
        </p:spPr>
      </p:pic>
      <p:pic>
        <p:nvPicPr>
          <p:cNvPr id="6" name="Picture 5" descr="Cool Taffy Cat">
            <a:extLst>
              <a:ext uri="{FF2B5EF4-FFF2-40B4-BE49-F238E27FC236}">
                <a16:creationId xmlns:a16="http://schemas.microsoft.com/office/drawing/2014/main" id="{ACC788CB-139E-F3BA-44A9-13289141C5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566" y="5615052"/>
            <a:ext cx="1341332" cy="1341332"/>
          </a:xfrm>
          <a:prstGeom prst="rect">
            <a:avLst/>
          </a:prstGeom>
        </p:spPr>
      </p:pic>
      <p:pic>
        <p:nvPicPr>
          <p:cNvPr id="8" name="Picture 7" descr="Love Taffy Cat">
            <a:extLst>
              <a:ext uri="{FF2B5EF4-FFF2-40B4-BE49-F238E27FC236}">
                <a16:creationId xmlns:a16="http://schemas.microsoft.com/office/drawing/2014/main" id="{07C2DA00-738D-981B-0977-248B755256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729222" y="3956516"/>
            <a:ext cx="1644256" cy="16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3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FA9BE-3FEF-7858-F5BE-E684D164F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9DAB6EB-DBBE-C94C-81C0-10C7DB56F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C6A1448-5804-E6AA-565F-E08C930D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5DEACA1-B8E7-1E28-F6BD-EA8E2A0C4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57CCF73-F37E-675E-6A7F-5838DA99CE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AFF4B38-E338-DABA-ADBE-9D47CEF334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7" name="Graphic 12">
              <a:extLst>
                <a:ext uri="{FF2B5EF4-FFF2-40B4-BE49-F238E27FC236}">
                  <a16:creationId xmlns:a16="http://schemas.microsoft.com/office/drawing/2014/main" id="{533A5135-7166-9FAD-1E4B-A3894DED9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Graphic 15">
              <a:extLst>
                <a:ext uri="{FF2B5EF4-FFF2-40B4-BE49-F238E27FC236}">
                  <a16:creationId xmlns:a16="http://schemas.microsoft.com/office/drawing/2014/main" id="{9F1452EA-D38E-82D6-3786-383085ECD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Graphic 15">
              <a:extLst>
                <a:ext uri="{FF2B5EF4-FFF2-40B4-BE49-F238E27FC236}">
                  <a16:creationId xmlns:a16="http://schemas.microsoft.com/office/drawing/2014/main" id="{6046A85B-792C-5B65-3E0B-5FE28F4BC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E889D77-E5A4-351B-A12F-920629B59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E7C833C0-1C81-F2B9-30BD-5055B4772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4" name="Graphic 78">
            <a:extLst>
              <a:ext uri="{FF2B5EF4-FFF2-40B4-BE49-F238E27FC236}">
                <a16:creationId xmlns:a16="http://schemas.microsoft.com/office/drawing/2014/main" id="{3E85D432-B3E1-10E9-4F4C-231425964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1056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5" name="Graphic 78">
              <a:extLst>
                <a:ext uri="{FF2B5EF4-FFF2-40B4-BE49-F238E27FC236}">
                  <a16:creationId xmlns:a16="http://schemas.microsoft.com/office/drawing/2014/main" id="{E093D8C8-2698-F346-8B2C-EB9F7E9949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6" name="Graphic 78">
              <a:extLst>
                <a:ext uri="{FF2B5EF4-FFF2-40B4-BE49-F238E27FC236}">
                  <a16:creationId xmlns:a16="http://schemas.microsoft.com/office/drawing/2014/main" id="{B43356FE-C3C4-8FD7-BF0E-80A4A4C55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77" name="Graphic 78">
                <a:extLst>
                  <a:ext uri="{FF2B5EF4-FFF2-40B4-BE49-F238E27FC236}">
                    <a16:creationId xmlns:a16="http://schemas.microsoft.com/office/drawing/2014/main" id="{733CA27F-7BFA-0BD4-0111-5DB95F9741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Graphic 78">
                <a:extLst>
                  <a:ext uri="{FF2B5EF4-FFF2-40B4-BE49-F238E27FC236}">
                    <a16:creationId xmlns:a16="http://schemas.microsoft.com/office/drawing/2014/main" id="{5DD6B087-F3F5-D545-42D1-99C8C443B3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Graphic 78">
                <a:extLst>
                  <a:ext uri="{FF2B5EF4-FFF2-40B4-BE49-F238E27FC236}">
                    <a16:creationId xmlns:a16="http://schemas.microsoft.com/office/drawing/2014/main" id="{C434BCCD-7E35-11BA-D29E-E4BF9D7DB6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Graphic 78">
                <a:extLst>
                  <a:ext uri="{FF2B5EF4-FFF2-40B4-BE49-F238E27FC236}">
                    <a16:creationId xmlns:a16="http://schemas.microsoft.com/office/drawing/2014/main" id="{21D013D3-157C-8A8B-07F9-B00D6AC284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FD0374FD-A96E-0C1B-E539-ED6337A70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CA6A4-924C-9512-2DC1-887DBDC0B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558" y="165803"/>
            <a:ext cx="4036122" cy="88667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2000" dirty="0"/>
              <a:t>Occupancy &amp; capacity insights:</a:t>
            </a:r>
            <a:br>
              <a:rPr lang="en-US" sz="3600" dirty="0"/>
            </a:br>
            <a:endParaRPr lang="en-US" sz="3600" dirty="0"/>
          </a:p>
        </p:txBody>
      </p:sp>
      <p:grpSp>
        <p:nvGrpSpPr>
          <p:cNvPr id="84" name="Graphic 78">
            <a:extLst>
              <a:ext uri="{FF2B5EF4-FFF2-40B4-BE49-F238E27FC236}">
                <a16:creationId xmlns:a16="http://schemas.microsoft.com/office/drawing/2014/main" id="{B70A6DE5-5A54-B974-9BBB-730A0CC13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4840" y="77610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5" name="Graphic 78">
              <a:extLst>
                <a:ext uri="{FF2B5EF4-FFF2-40B4-BE49-F238E27FC236}">
                  <a16:creationId xmlns:a16="http://schemas.microsoft.com/office/drawing/2014/main" id="{972B1505-D773-2289-7AD8-5CFEB5517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aphic 78">
              <a:extLst>
                <a:ext uri="{FF2B5EF4-FFF2-40B4-BE49-F238E27FC236}">
                  <a16:creationId xmlns:a16="http://schemas.microsoft.com/office/drawing/2014/main" id="{EED5E61B-30DF-6364-2978-B81F7E6E9E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87" name="Graphic 78">
                <a:extLst>
                  <a:ext uri="{FF2B5EF4-FFF2-40B4-BE49-F238E27FC236}">
                    <a16:creationId xmlns:a16="http://schemas.microsoft.com/office/drawing/2014/main" id="{6FF81643-9315-9417-DB56-230F3365B3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Graphic 78">
                <a:extLst>
                  <a:ext uri="{FF2B5EF4-FFF2-40B4-BE49-F238E27FC236}">
                    <a16:creationId xmlns:a16="http://schemas.microsoft.com/office/drawing/2014/main" id="{CF43B571-6207-2CCF-D7BB-98C1B45587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Graphic 78">
                <a:extLst>
                  <a:ext uri="{FF2B5EF4-FFF2-40B4-BE49-F238E27FC236}">
                    <a16:creationId xmlns:a16="http://schemas.microsoft.com/office/drawing/2014/main" id="{85937B3B-4FB4-F589-D720-F95554758D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Graphic 78">
                <a:extLst>
                  <a:ext uri="{FF2B5EF4-FFF2-40B4-BE49-F238E27FC236}">
                    <a16:creationId xmlns:a16="http://schemas.microsoft.com/office/drawing/2014/main" id="{6D1BAC95-A78E-71C9-4EC4-6096E0BCEB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83D84786-D67B-46BE-9DA0-ADA2B08EA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6006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AF45A24-66FF-7119-9431-6799F36F8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10732601" y="535113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0C07228-0EB0-7CBB-3900-EE53B8621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E30F31C-EFCE-C51F-E337-5688B992F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43B26E2-C13A-BA34-3A0D-92EF9F571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8" name="Graphic 12">
              <a:extLst>
                <a:ext uri="{FF2B5EF4-FFF2-40B4-BE49-F238E27FC236}">
                  <a16:creationId xmlns:a16="http://schemas.microsoft.com/office/drawing/2014/main" id="{6A26EE34-6718-A795-9D5F-BE9EB71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Graphic 15">
              <a:extLst>
                <a:ext uri="{FF2B5EF4-FFF2-40B4-BE49-F238E27FC236}">
                  <a16:creationId xmlns:a16="http://schemas.microsoft.com/office/drawing/2014/main" id="{9AA46DC7-BD23-B58C-C413-144AE2BB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Graphic 15">
              <a:extLst>
                <a:ext uri="{FF2B5EF4-FFF2-40B4-BE49-F238E27FC236}">
                  <a16:creationId xmlns:a16="http://schemas.microsoft.com/office/drawing/2014/main" id="{4D665A68-7097-3809-2316-1E83F031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1AFAD605-DFA8-49F6-DEEB-C7B4014B4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8800F241-9D53-F022-6315-74C72C619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054" y="655320"/>
            <a:ext cx="4320194" cy="6036877"/>
          </a:xfrm>
        </p:spPr>
        <p:txBody>
          <a:bodyPr anchor="t">
            <a:normAutofit fontScale="92500" lnSpcReduction="10000"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/>
              <a:t>Overall occupancy is ~57.87%, indicating moderate utilization of available capacity. </a:t>
            </a:r>
            <a:endParaRPr lang="en-IN" sz="14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/>
              <a:t>Total capacity (232.58K) is much higher than successful bookings (134.59K).</a:t>
            </a:r>
            <a:br>
              <a:rPr lang="en-IN" sz="1600" dirty="0"/>
            </a:br>
            <a:r>
              <a:rPr lang="en-IN" sz="1600" dirty="0"/>
              <a:t>👉 Shows underutilization of available rooms. </a:t>
            </a:r>
            <a:endParaRPr lang="en-IN" sz="14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/>
              <a:t>Occupancy by hotel shows variation across properties, with some performing well (~60%+) and others significantly lower (~44%).</a:t>
            </a:r>
            <a:br>
              <a:rPr lang="en-IN" sz="1600" dirty="0"/>
            </a:br>
            <a:r>
              <a:rPr lang="en-IN" sz="1600" dirty="0"/>
              <a:t>👉 Indicates uneven performance across hotels. </a:t>
            </a:r>
            <a:endParaRPr lang="en-IN" sz="14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/>
              <a:t>Occupancy by room type: </a:t>
            </a:r>
            <a:endParaRPr lang="en-IN" sz="1400" dirty="0"/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1600" dirty="0"/>
              <a:t>  Presidential rooms have highest occupancy (~59%) 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1600" dirty="0"/>
              <a:t>Other categories (Elite, Premium, Standard) are slightly lower</a:t>
            </a:r>
            <a:br>
              <a:rPr lang="en-IN" sz="1600" dirty="0"/>
            </a:br>
            <a:r>
              <a:rPr lang="en-IN" sz="1600" dirty="0"/>
              <a:t>👉 Higher-end rooms are performing better than expected. </a:t>
            </a:r>
            <a:endParaRPr lang="en-IN" sz="14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/>
              <a:t>Trend over time shows fluctuations but no strong growth pattern.</a:t>
            </a:r>
            <a:br>
              <a:rPr lang="en-IN" sz="1600" dirty="0"/>
            </a:br>
            <a:r>
              <a:rPr lang="en-IN" sz="1600" dirty="0"/>
              <a:t>👉 Indicates inconsistent demand. </a:t>
            </a:r>
            <a:endParaRPr lang="en-IN" sz="1400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E7EDBE8-84B2-4A86-ED3D-B2223D1504E2}"/>
              </a:ext>
            </a:extLst>
          </p:cNvPr>
          <p:cNvSpPr txBox="1">
            <a:spLocks/>
          </p:cNvSpPr>
          <p:nvPr/>
        </p:nvSpPr>
        <p:spPr>
          <a:xfrm>
            <a:off x="4927796" y="4308903"/>
            <a:ext cx="7027983" cy="25490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/>
              <a:t>🚀 Recommendations</a:t>
            </a:r>
            <a:endParaRPr lang="en-IN" sz="1600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b="1" dirty="0"/>
              <a:t>Improve occupancy rates</a:t>
            </a:r>
            <a:r>
              <a:rPr lang="en-IN" sz="1700" dirty="0"/>
              <a:t> through targeted marketing and better pricing strategies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b="1" dirty="0"/>
              <a:t>Focus on underperforming properties</a:t>
            </a:r>
            <a:r>
              <a:rPr lang="en-IN" sz="1700" dirty="0"/>
              <a:t> and optimize their operations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b="1" dirty="0"/>
              <a:t>Increase utilization of available capacity</a:t>
            </a:r>
            <a:r>
              <a:rPr lang="en-IN" sz="1700" dirty="0"/>
              <a:t> (promotions, partnerships, campaigns)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b="1" dirty="0"/>
              <a:t>Boost demand for lower-performing room types</a:t>
            </a:r>
            <a:r>
              <a:rPr lang="en-IN" sz="1700" dirty="0"/>
              <a:t> through offers or bundling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700" b="1" dirty="0"/>
              <a:t>Stabilize demand trends</a:t>
            </a:r>
            <a:r>
              <a:rPr lang="en-IN" sz="1700" dirty="0"/>
              <a:t> using seasonal planning and demand forecasting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9878D-A606-4878-1533-73849C6C6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650" y="138526"/>
            <a:ext cx="7154273" cy="4010585"/>
          </a:xfrm>
          <a:prstGeom prst="rect">
            <a:avLst/>
          </a:prstGeom>
        </p:spPr>
      </p:pic>
      <p:pic>
        <p:nvPicPr>
          <p:cNvPr id="9" name="Picture 8" descr="Please Taffy Cat">
            <a:extLst>
              <a:ext uri="{FF2B5EF4-FFF2-40B4-BE49-F238E27FC236}">
                <a16:creationId xmlns:a16="http://schemas.microsoft.com/office/drawing/2014/main" id="{581DF026-47B6-5646-52B3-B6D66E7F2D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136296" y="3865203"/>
            <a:ext cx="1289050" cy="1289050"/>
          </a:xfrm>
          <a:prstGeom prst="rect">
            <a:avLst/>
          </a:prstGeom>
        </p:spPr>
      </p:pic>
      <p:pic>
        <p:nvPicPr>
          <p:cNvPr id="13" name="Picture 12" descr="Regal Taffy Cat">
            <a:extLst>
              <a:ext uri="{FF2B5EF4-FFF2-40B4-BE49-F238E27FC236}">
                <a16:creationId xmlns:a16="http://schemas.microsoft.com/office/drawing/2014/main" id="{5525B5FC-9AAE-ABDB-26F1-900A60C013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738" y="5849762"/>
            <a:ext cx="1159702" cy="115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18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3532BF-6A13-55A3-F6AD-D6CF00FCE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6E422322-EC6B-9C6F-99E7-40F33A914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83CEC20-B7BB-EA8C-99E9-CE21DAABD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4042031-6BC2-9F10-843E-F3873E96CA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0BB3DD3-ADB1-2CA9-DFAA-D59F8BE11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D8FA066-DB58-050B-852A-CE9931507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7" name="Graphic 12">
              <a:extLst>
                <a:ext uri="{FF2B5EF4-FFF2-40B4-BE49-F238E27FC236}">
                  <a16:creationId xmlns:a16="http://schemas.microsoft.com/office/drawing/2014/main" id="{E80CD908-1B85-0738-1F25-9B4C30DAD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Graphic 15">
              <a:extLst>
                <a:ext uri="{FF2B5EF4-FFF2-40B4-BE49-F238E27FC236}">
                  <a16:creationId xmlns:a16="http://schemas.microsoft.com/office/drawing/2014/main" id="{43ACA117-6FC9-DAC7-377D-6B6B3BDB1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Graphic 15">
              <a:extLst>
                <a:ext uri="{FF2B5EF4-FFF2-40B4-BE49-F238E27FC236}">
                  <a16:creationId xmlns:a16="http://schemas.microsoft.com/office/drawing/2014/main" id="{9462DE54-8C8A-5860-8913-A84468291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B1BCED6-7891-3398-EDB4-1C28B8B019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DC93883-1B03-33D7-923A-D4FFF176D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4" name="Graphic 78">
            <a:extLst>
              <a:ext uri="{FF2B5EF4-FFF2-40B4-BE49-F238E27FC236}">
                <a16:creationId xmlns:a16="http://schemas.microsoft.com/office/drawing/2014/main" id="{671FD748-A309-12EB-20BB-C826F5E61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1056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5" name="Graphic 78">
              <a:extLst>
                <a:ext uri="{FF2B5EF4-FFF2-40B4-BE49-F238E27FC236}">
                  <a16:creationId xmlns:a16="http://schemas.microsoft.com/office/drawing/2014/main" id="{FE673E3A-F0A0-B098-EDBF-4EBD4AC67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6" name="Graphic 78">
              <a:extLst>
                <a:ext uri="{FF2B5EF4-FFF2-40B4-BE49-F238E27FC236}">
                  <a16:creationId xmlns:a16="http://schemas.microsoft.com/office/drawing/2014/main" id="{6195157F-8B30-198C-EB69-67635C1A88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77" name="Graphic 78">
                <a:extLst>
                  <a:ext uri="{FF2B5EF4-FFF2-40B4-BE49-F238E27FC236}">
                    <a16:creationId xmlns:a16="http://schemas.microsoft.com/office/drawing/2014/main" id="{FF41737B-DD90-9DAC-1E84-E734D178DC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Graphic 78">
                <a:extLst>
                  <a:ext uri="{FF2B5EF4-FFF2-40B4-BE49-F238E27FC236}">
                    <a16:creationId xmlns:a16="http://schemas.microsoft.com/office/drawing/2014/main" id="{CF1FE781-658E-D44D-E8B9-265AB64005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Graphic 78">
                <a:extLst>
                  <a:ext uri="{FF2B5EF4-FFF2-40B4-BE49-F238E27FC236}">
                    <a16:creationId xmlns:a16="http://schemas.microsoft.com/office/drawing/2014/main" id="{7FADB29B-B6A4-8DDC-AE5F-C8E8391F2E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Graphic 78">
                <a:extLst>
                  <a:ext uri="{FF2B5EF4-FFF2-40B4-BE49-F238E27FC236}">
                    <a16:creationId xmlns:a16="http://schemas.microsoft.com/office/drawing/2014/main" id="{EE160E90-E1A2-8591-160E-929FD34982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A7A166F2-4D11-15CF-F965-572805EAE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5D7D99-BAA7-EF5C-5EFC-1423AFC69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558" y="165803"/>
            <a:ext cx="4320194" cy="88667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2000" dirty="0"/>
              <a:t>Customer behavior &amp; cancellation  insights:</a:t>
            </a:r>
            <a:br>
              <a:rPr lang="en-US" sz="3600" dirty="0"/>
            </a:br>
            <a:endParaRPr lang="en-US" sz="3600" dirty="0"/>
          </a:p>
        </p:txBody>
      </p:sp>
      <p:grpSp>
        <p:nvGrpSpPr>
          <p:cNvPr id="84" name="Graphic 78">
            <a:extLst>
              <a:ext uri="{FF2B5EF4-FFF2-40B4-BE49-F238E27FC236}">
                <a16:creationId xmlns:a16="http://schemas.microsoft.com/office/drawing/2014/main" id="{6B9629C4-1AC6-33AB-3735-76EC9DD11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4840" y="77610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5" name="Graphic 78">
              <a:extLst>
                <a:ext uri="{FF2B5EF4-FFF2-40B4-BE49-F238E27FC236}">
                  <a16:creationId xmlns:a16="http://schemas.microsoft.com/office/drawing/2014/main" id="{65EADE80-6517-16CE-CA21-46BC489C4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aphic 78">
              <a:extLst>
                <a:ext uri="{FF2B5EF4-FFF2-40B4-BE49-F238E27FC236}">
                  <a16:creationId xmlns:a16="http://schemas.microsoft.com/office/drawing/2014/main" id="{B1142722-9558-89B6-6869-54F184A1E1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87" name="Graphic 78">
                <a:extLst>
                  <a:ext uri="{FF2B5EF4-FFF2-40B4-BE49-F238E27FC236}">
                    <a16:creationId xmlns:a16="http://schemas.microsoft.com/office/drawing/2014/main" id="{AF32001C-20EE-7E21-9DFB-9C756386C6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Graphic 78">
                <a:extLst>
                  <a:ext uri="{FF2B5EF4-FFF2-40B4-BE49-F238E27FC236}">
                    <a16:creationId xmlns:a16="http://schemas.microsoft.com/office/drawing/2014/main" id="{E3E55F1B-03A9-15B4-7914-DB726A88AD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Graphic 78">
                <a:extLst>
                  <a:ext uri="{FF2B5EF4-FFF2-40B4-BE49-F238E27FC236}">
                    <a16:creationId xmlns:a16="http://schemas.microsoft.com/office/drawing/2014/main" id="{C9F47569-8916-042E-3D3F-7F37E85607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Graphic 78">
                <a:extLst>
                  <a:ext uri="{FF2B5EF4-FFF2-40B4-BE49-F238E27FC236}">
                    <a16:creationId xmlns:a16="http://schemas.microsoft.com/office/drawing/2014/main" id="{F203E83C-FEEC-2F8F-4768-DCCAC8F6A7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3D1DBBAE-0B91-B3B8-6A2F-9E1E4F3F7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6006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4DA5B54-BFDD-D188-1DF6-4B768AA23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10732601" y="535113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170E1F0-D4A5-58BD-6C52-22CAB5FA1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6E9652C-3C12-632E-2FFA-1CD7198F0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28E084F-B471-4FAC-94A5-CF6FA2E9B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8" name="Graphic 12">
              <a:extLst>
                <a:ext uri="{FF2B5EF4-FFF2-40B4-BE49-F238E27FC236}">
                  <a16:creationId xmlns:a16="http://schemas.microsoft.com/office/drawing/2014/main" id="{8595BC7C-9A09-CCA2-E24D-38BE21749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Graphic 15">
              <a:extLst>
                <a:ext uri="{FF2B5EF4-FFF2-40B4-BE49-F238E27FC236}">
                  <a16:creationId xmlns:a16="http://schemas.microsoft.com/office/drawing/2014/main" id="{AF8F8E85-7D34-73EC-0782-DDBA6C096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Graphic 15">
              <a:extLst>
                <a:ext uri="{FF2B5EF4-FFF2-40B4-BE49-F238E27FC236}">
                  <a16:creationId xmlns:a16="http://schemas.microsoft.com/office/drawing/2014/main" id="{D3C1CD7D-037D-3AC1-4458-B1AF6AEF88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FC26BD0F-5E38-FF03-3D19-EBCE66613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05210CB0-5A61-6A40-80DA-ACC816FE8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054" y="914400"/>
            <a:ext cx="4320194" cy="5777797"/>
          </a:xfrm>
        </p:spPr>
        <p:txBody>
          <a:bodyPr anchor="t">
            <a:normAutofit fontScale="85000" lnSpcReduction="20000"/>
          </a:bodyPr>
          <a:lstStyle/>
          <a:p>
            <a:r>
              <a:rPr lang="en-IN" sz="1500" dirty="0"/>
              <a:t>🔹 Customer Behaviour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500" dirty="0"/>
              <a:t>Average customer spending is 6.35K, with an average stay of ~2 days.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500" dirty="0"/>
              <a:t>Most bookings are made 20–30 days in advance.</a:t>
            </a:r>
            <a:br>
              <a:rPr lang="en-IN" sz="1500" dirty="0"/>
            </a:br>
            <a:r>
              <a:rPr lang="en-IN" sz="1500" dirty="0"/>
              <a:t>👉 Indicates short stay duration and moderate planning window.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500" dirty="0"/>
              <a:t>Elite room class has highest bookings (~47%).</a:t>
            </a:r>
            <a:br>
              <a:rPr lang="en-IN" sz="1500" dirty="0"/>
            </a:br>
            <a:r>
              <a:rPr lang="en-IN" sz="1500" dirty="0"/>
              <a:t>👉 Shows preference for higher-value room categories.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500" dirty="0"/>
              <a:t>Major bookings come from MakeMyTrip, </a:t>
            </a:r>
            <a:r>
              <a:rPr lang="en-IN" sz="1500" dirty="0" err="1"/>
              <a:t>Longtrip</a:t>
            </a:r>
            <a:r>
              <a:rPr lang="en-IN" sz="1500" dirty="0"/>
              <a:t>, and Direct Online channels.</a:t>
            </a:r>
            <a:br>
              <a:rPr lang="en-IN" sz="1500" dirty="0"/>
            </a:br>
            <a:r>
              <a:rPr lang="en-IN" sz="1500" dirty="0"/>
              <a:t>👉 Business Is highly dependent on online platforms. </a:t>
            </a:r>
          </a:p>
          <a:p>
            <a:pPr lvl="0"/>
            <a:endParaRPr lang="en-IN" sz="1500" dirty="0"/>
          </a:p>
          <a:p>
            <a:r>
              <a:rPr lang="en-IN" sz="1500" dirty="0"/>
              <a:t>🔹 Cancellation Impact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500" dirty="0"/>
              <a:t>Total cancellations: 31.93K (24.78%)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500" dirty="0"/>
              <a:t>Revenue loss due to cancellations: 11.63%</a:t>
            </a:r>
            <a:br>
              <a:rPr lang="en-IN" sz="1500" dirty="0"/>
            </a:br>
            <a:r>
              <a:rPr lang="en-IN" sz="1500" dirty="0"/>
              <a:t>👉 Significant impact on overall revenue.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500" dirty="0"/>
              <a:t>Cancellation rates are similar across cities (~24–25%)</a:t>
            </a:r>
            <a:br>
              <a:rPr lang="en-IN" sz="1500" dirty="0"/>
            </a:br>
            <a:r>
              <a:rPr lang="en-IN" sz="1500" dirty="0"/>
              <a:t>👉 Indicates a system-wide issue, not location-specific.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500" dirty="0"/>
              <a:t>Cancellation trend fluctuates, with a sharp drop in recent weeks</a:t>
            </a:r>
            <a:br>
              <a:rPr lang="en-IN" sz="1500" dirty="0"/>
            </a:br>
            <a:r>
              <a:rPr lang="en-IN" sz="1500" dirty="0"/>
              <a:t>👉 Needs further monitoring for consistency.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endParaRPr lang="en-IN" sz="1200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5FEA9FA-C759-175E-AF27-90B74223EE5F}"/>
              </a:ext>
            </a:extLst>
          </p:cNvPr>
          <p:cNvSpPr txBox="1">
            <a:spLocks/>
          </p:cNvSpPr>
          <p:nvPr/>
        </p:nvSpPr>
        <p:spPr>
          <a:xfrm>
            <a:off x="4927796" y="4308903"/>
            <a:ext cx="7027983" cy="25490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/>
              <a:t>🚀 Recommendations</a:t>
            </a:r>
            <a:endParaRPr lang="en-IN" sz="1600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900" b="1" dirty="0"/>
              <a:t>Reduce cancellations</a:t>
            </a:r>
            <a:r>
              <a:rPr lang="en-IN" sz="1900" dirty="0"/>
              <a:t> by improving booking policies (partial payments, stricter rules)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900" b="1" dirty="0"/>
              <a:t>Offer incentives for confirmed stays</a:t>
            </a:r>
            <a:r>
              <a:rPr lang="en-IN" sz="1900" dirty="0"/>
              <a:t> (discounts, loyalty benefits)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900" b="1" dirty="0"/>
              <a:t>Strengthen high-performing booking platforms</a:t>
            </a:r>
            <a:r>
              <a:rPr lang="en-IN" sz="1900" dirty="0"/>
              <a:t>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900" b="1" dirty="0"/>
              <a:t>Encourage longer stays</a:t>
            </a:r>
            <a:r>
              <a:rPr lang="en-IN" sz="1900" dirty="0"/>
              <a:t> through package deals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1900" b="1" dirty="0" err="1"/>
              <a:t>Analyze</a:t>
            </a:r>
            <a:r>
              <a:rPr lang="en-IN" sz="1900" b="1" dirty="0"/>
              <a:t> cancellation reasons</a:t>
            </a:r>
            <a:r>
              <a:rPr lang="en-IN" sz="1900" dirty="0"/>
              <a:t> to take targeted 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B240E5-D328-29B6-E2DE-DD2534DF9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434" y="255180"/>
            <a:ext cx="7337233" cy="3914682"/>
          </a:xfrm>
          <a:prstGeom prst="rect">
            <a:avLst/>
          </a:prstGeom>
        </p:spPr>
      </p:pic>
      <p:pic>
        <p:nvPicPr>
          <p:cNvPr id="15" name="Picture 14" descr="Reply? Taffy Cat">
            <a:extLst>
              <a:ext uri="{FF2B5EF4-FFF2-40B4-BE49-F238E27FC236}">
                <a16:creationId xmlns:a16="http://schemas.microsoft.com/office/drawing/2014/main" id="{7B56A577-7EC6-B068-614B-97CCE2BE3E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361" y="3429000"/>
            <a:ext cx="1159102" cy="1159102"/>
          </a:xfrm>
          <a:prstGeom prst="rect">
            <a:avLst/>
          </a:prstGeom>
        </p:spPr>
      </p:pic>
      <p:pic>
        <p:nvPicPr>
          <p:cNvPr id="17" name="Picture 16" descr="Zzz Taffy Cat">
            <a:extLst>
              <a:ext uri="{FF2B5EF4-FFF2-40B4-BE49-F238E27FC236}">
                <a16:creationId xmlns:a16="http://schemas.microsoft.com/office/drawing/2014/main" id="{952C39BA-4FAF-ABB6-039E-358F90424E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80" y="3853084"/>
            <a:ext cx="1243433" cy="124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63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1EDE9-FD62-0304-3557-641FB2C32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C810E3A3-DD9D-80FD-A41F-854212B38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CC546EF-529C-B04A-D092-E8F151BA7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00F6ADE-CCE1-6A2E-A7E6-514C8015B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92C3B29-6F24-FBF1-748B-A3B575446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16823C2-4313-3B65-0CF7-88FB071A7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7" name="Graphic 12">
              <a:extLst>
                <a:ext uri="{FF2B5EF4-FFF2-40B4-BE49-F238E27FC236}">
                  <a16:creationId xmlns:a16="http://schemas.microsoft.com/office/drawing/2014/main" id="{B94C1B7E-2E99-2039-D98B-2745B3302B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Graphic 15">
              <a:extLst>
                <a:ext uri="{FF2B5EF4-FFF2-40B4-BE49-F238E27FC236}">
                  <a16:creationId xmlns:a16="http://schemas.microsoft.com/office/drawing/2014/main" id="{F1497B40-2B83-7E64-6097-18A958694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Graphic 15">
              <a:extLst>
                <a:ext uri="{FF2B5EF4-FFF2-40B4-BE49-F238E27FC236}">
                  <a16:creationId xmlns:a16="http://schemas.microsoft.com/office/drawing/2014/main" id="{E2151B7F-1738-007C-F263-F1F79710C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533C6D9-A3EE-67CB-C665-67E02A1A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FACCB217-BD9B-A755-D010-9E4FA9578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4" name="Graphic 78">
            <a:extLst>
              <a:ext uri="{FF2B5EF4-FFF2-40B4-BE49-F238E27FC236}">
                <a16:creationId xmlns:a16="http://schemas.microsoft.com/office/drawing/2014/main" id="{898AAA92-D962-61E4-A11B-2CEAB7790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1056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5" name="Graphic 78">
              <a:extLst>
                <a:ext uri="{FF2B5EF4-FFF2-40B4-BE49-F238E27FC236}">
                  <a16:creationId xmlns:a16="http://schemas.microsoft.com/office/drawing/2014/main" id="{6885041A-2DDC-6508-565D-E9332E8F0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6" name="Graphic 78">
              <a:extLst>
                <a:ext uri="{FF2B5EF4-FFF2-40B4-BE49-F238E27FC236}">
                  <a16:creationId xmlns:a16="http://schemas.microsoft.com/office/drawing/2014/main" id="{BC67D2A2-2300-757B-9F15-9107890FE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77" name="Graphic 78">
                <a:extLst>
                  <a:ext uri="{FF2B5EF4-FFF2-40B4-BE49-F238E27FC236}">
                    <a16:creationId xmlns:a16="http://schemas.microsoft.com/office/drawing/2014/main" id="{7A1F3871-3EB5-B59D-6179-EF2C395C8E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Graphic 78">
                <a:extLst>
                  <a:ext uri="{FF2B5EF4-FFF2-40B4-BE49-F238E27FC236}">
                    <a16:creationId xmlns:a16="http://schemas.microsoft.com/office/drawing/2014/main" id="{3BE8B8EE-00F0-DE00-65C8-718C4065F2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Graphic 78">
                <a:extLst>
                  <a:ext uri="{FF2B5EF4-FFF2-40B4-BE49-F238E27FC236}">
                    <a16:creationId xmlns:a16="http://schemas.microsoft.com/office/drawing/2014/main" id="{EA3A0872-410C-3C5D-A478-44C281C51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Graphic 78">
                <a:extLst>
                  <a:ext uri="{FF2B5EF4-FFF2-40B4-BE49-F238E27FC236}">
                    <a16:creationId xmlns:a16="http://schemas.microsoft.com/office/drawing/2014/main" id="{BF32821B-FD2C-39C1-A225-A96354CA26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A27910D8-74DA-1527-62DD-78B2E878E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7B97D9-57C9-41DE-0449-457E408C4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434" y="207060"/>
            <a:ext cx="4320194" cy="61030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2200" dirty="0"/>
              <a:t>Customer Experience insights:</a:t>
            </a:r>
            <a:br>
              <a:rPr lang="en-US" sz="3600" dirty="0"/>
            </a:br>
            <a:endParaRPr lang="en-US" sz="3600" dirty="0"/>
          </a:p>
        </p:txBody>
      </p:sp>
      <p:grpSp>
        <p:nvGrpSpPr>
          <p:cNvPr id="84" name="Graphic 78">
            <a:extLst>
              <a:ext uri="{FF2B5EF4-FFF2-40B4-BE49-F238E27FC236}">
                <a16:creationId xmlns:a16="http://schemas.microsoft.com/office/drawing/2014/main" id="{1879798E-D004-B87C-FE12-4EA2A7366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4840" y="77610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5" name="Graphic 78">
              <a:extLst>
                <a:ext uri="{FF2B5EF4-FFF2-40B4-BE49-F238E27FC236}">
                  <a16:creationId xmlns:a16="http://schemas.microsoft.com/office/drawing/2014/main" id="{BA5CF065-41B4-D611-E6D3-C58122CD4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aphic 78">
              <a:extLst>
                <a:ext uri="{FF2B5EF4-FFF2-40B4-BE49-F238E27FC236}">
                  <a16:creationId xmlns:a16="http://schemas.microsoft.com/office/drawing/2014/main" id="{4A0C14DA-749E-A377-A96D-6E0AF27FE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87" name="Graphic 78">
                <a:extLst>
                  <a:ext uri="{FF2B5EF4-FFF2-40B4-BE49-F238E27FC236}">
                    <a16:creationId xmlns:a16="http://schemas.microsoft.com/office/drawing/2014/main" id="{80E346B8-AF37-0DAB-E1C4-3BB2A36E7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Graphic 78">
                <a:extLst>
                  <a:ext uri="{FF2B5EF4-FFF2-40B4-BE49-F238E27FC236}">
                    <a16:creationId xmlns:a16="http://schemas.microsoft.com/office/drawing/2014/main" id="{9A8D34A7-4C63-DF42-04E0-2BC4CF5C83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Graphic 78">
                <a:extLst>
                  <a:ext uri="{FF2B5EF4-FFF2-40B4-BE49-F238E27FC236}">
                    <a16:creationId xmlns:a16="http://schemas.microsoft.com/office/drawing/2014/main" id="{1B9491F7-45FC-4CEC-1CF5-DB9D7DDE82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Graphic 78">
                <a:extLst>
                  <a:ext uri="{FF2B5EF4-FFF2-40B4-BE49-F238E27FC236}">
                    <a16:creationId xmlns:a16="http://schemas.microsoft.com/office/drawing/2014/main" id="{39E581FD-6CF7-27F6-C881-4EDC3DFAA4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C00D5B24-C5A9-F525-98ED-768C8199C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6006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DD2BA21-D905-C074-1EBB-2E1494BF4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10732601" y="535113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0C0E434-535A-1192-A073-A138034AA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FDCF613-D56E-E308-BEFF-92A757B49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4DE43B6-877E-B238-B6AC-A2FC0AB22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8" name="Graphic 12">
              <a:extLst>
                <a:ext uri="{FF2B5EF4-FFF2-40B4-BE49-F238E27FC236}">
                  <a16:creationId xmlns:a16="http://schemas.microsoft.com/office/drawing/2014/main" id="{545AE6B8-C9F8-7144-C282-2E166C59F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Graphic 15">
              <a:extLst>
                <a:ext uri="{FF2B5EF4-FFF2-40B4-BE49-F238E27FC236}">
                  <a16:creationId xmlns:a16="http://schemas.microsoft.com/office/drawing/2014/main" id="{FD731A02-04F5-17F5-8B7A-DEFADC945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Graphic 15">
              <a:extLst>
                <a:ext uri="{FF2B5EF4-FFF2-40B4-BE49-F238E27FC236}">
                  <a16:creationId xmlns:a16="http://schemas.microsoft.com/office/drawing/2014/main" id="{EE26CEB0-AC4A-7187-5E1C-9BA02A01FF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E7691C7-8052-C266-35E2-9A675D106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B82DC4A0-3835-8934-A52C-B3D710642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2495" y="776109"/>
            <a:ext cx="4320194" cy="6078740"/>
          </a:xfrm>
        </p:spPr>
        <p:txBody>
          <a:bodyPr anchor="t">
            <a:normAutofit fontScale="32500" lnSpcReduction="20000"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4900" dirty="0"/>
              <a:t>Average rating is ~3.26, showing moderate customer satisfaction with minimal change over time.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4900" dirty="0"/>
              <a:t>Ratings vs Revenue shows higher revenue around mid-level ratings (~3–4).</a:t>
            </a:r>
            <a:br>
              <a:rPr lang="en-IN" sz="4900" dirty="0"/>
            </a:br>
            <a:r>
              <a:rPr lang="en-IN" sz="4900" dirty="0"/>
              <a:t>👉 Indicates most bookings come from average satisfaction levels, not excellent experiences.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4900" dirty="0"/>
              <a:t>City-wise ratings: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4900" dirty="0"/>
              <a:t>Delhi has highest ratings (~3.38)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4900" dirty="0"/>
              <a:t> Bangalore has lowest (~3.17)</a:t>
            </a:r>
            <a:br>
              <a:rPr lang="en-IN" sz="4900" dirty="0"/>
            </a:br>
            <a:r>
              <a:rPr lang="en-IN" sz="4900" dirty="0"/>
              <a:t>👉 Customer experience varies across cities.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4900" dirty="0"/>
              <a:t>Platform-wise ratings show slight variation, with some platforms performing better than others.</a:t>
            </a:r>
            <a:br>
              <a:rPr lang="en-IN" sz="4900" dirty="0"/>
            </a:br>
            <a:r>
              <a:rPr lang="en-IN" sz="4900" dirty="0"/>
              <a:t>👉 Indicates inconsistent experience across booking channels.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4900" dirty="0"/>
              <a:t>Weekly trend shows ratings are stable but slightly declining.</a:t>
            </a:r>
            <a:br>
              <a:rPr lang="en-IN" sz="4900" dirty="0"/>
            </a:br>
            <a:r>
              <a:rPr lang="en-IN" sz="4900" dirty="0"/>
              <a:t>👉 No strong improvement in customer satisfaction.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endParaRPr lang="en-IN" sz="1200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F78384B-6F3F-5AC7-C92B-B5169B4659DF}"/>
              </a:ext>
            </a:extLst>
          </p:cNvPr>
          <p:cNvSpPr txBox="1">
            <a:spLocks/>
          </p:cNvSpPr>
          <p:nvPr/>
        </p:nvSpPr>
        <p:spPr>
          <a:xfrm>
            <a:off x="4927796" y="4308903"/>
            <a:ext cx="7027983" cy="2549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/>
              <a:t>🚀 Recommendations</a:t>
            </a:r>
            <a:endParaRPr lang="en-IN" sz="1600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Improve overall service quality</a:t>
            </a:r>
            <a:r>
              <a:rPr lang="en-IN" sz="1600" dirty="0"/>
              <a:t> to push ratings above 3.5+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Focus on low-performing cities (e.g., Bangalore)</a:t>
            </a:r>
            <a:r>
              <a:rPr lang="en-IN" sz="16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Standardize experience across booking platforms</a:t>
            </a:r>
            <a:r>
              <a:rPr lang="en-IN" sz="16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Collect and act on customer feedback regularly</a:t>
            </a:r>
            <a:r>
              <a:rPr lang="en-IN" sz="16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Enhance customer engagement and loyalty programs</a:t>
            </a: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AB018E-68BA-D46A-CC78-A86B90DE9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750" y="165804"/>
            <a:ext cx="7347376" cy="3965159"/>
          </a:xfrm>
          <a:prstGeom prst="rect">
            <a:avLst/>
          </a:prstGeom>
        </p:spPr>
      </p:pic>
      <p:pic>
        <p:nvPicPr>
          <p:cNvPr id="7" name="Picture 6" descr="Angel Taffy Cat">
            <a:extLst>
              <a:ext uri="{FF2B5EF4-FFF2-40B4-BE49-F238E27FC236}">
                <a16:creationId xmlns:a16="http://schemas.microsoft.com/office/drawing/2014/main" id="{5C1872F1-19C7-38D0-995F-6C8047C442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691" y="5868588"/>
            <a:ext cx="1114432" cy="1114432"/>
          </a:xfrm>
          <a:prstGeom prst="rect">
            <a:avLst/>
          </a:prstGeom>
        </p:spPr>
      </p:pic>
      <p:pic>
        <p:nvPicPr>
          <p:cNvPr id="9" name="Picture 8" descr="Silly Taffy Cat">
            <a:extLst>
              <a:ext uri="{FF2B5EF4-FFF2-40B4-BE49-F238E27FC236}">
                <a16:creationId xmlns:a16="http://schemas.microsoft.com/office/drawing/2014/main" id="{75E38163-7F75-C1F0-86A1-A282A308C6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943" y="4648367"/>
            <a:ext cx="1916031" cy="191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14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98F1E-D77C-757B-CF5D-4B535D280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8E10BA-6802-5A60-D94E-2CF23FDA3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015" y="522550"/>
            <a:ext cx="2590793" cy="796366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IN" sz="3100" dirty="0"/>
              <a:t>Conclusion</a:t>
            </a:r>
            <a:br>
              <a:rPr lang="en-IN" sz="3100" dirty="0"/>
            </a:br>
            <a:endParaRPr lang="en-IN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A6FFC-327C-DBCB-5563-C9288FEB0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015" y="995354"/>
            <a:ext cx="6334719" cy="5720161"/>
          </a:xfrm>
        </p:spPr>
        <p:txBody>
          <a:bodyPr>
            <a:normAutofit/>
          </a:bodyPr>
          <a:lstStyle/>
          <a:p>
            <a:r>
              <a:rPr lang="en-IN" sz="1600" dirty="0"/>
              <a:t>This project provides a comprehensive analysis of </a:t>
            </a:r>
            <a:r>
              <a:rPr lang="en-IN" sz="1600" dirty="0" err="1"/>
              <a:t>AtliQ</a:t>
            </a:r>
            <a:r>
              <a:rPr lang="en-IN" sz="1600" dirty="0"/>
              <a:t> Grands’ overall business performance using data-driven insights. The analysis reveals that the decline in revenue is primarily driven by </a:t>
            </a:r>
            <a:r>
              <a:rPr lang="en-IN" sz="1600" b="1" dirty="0"/>
              <a:t>inefficiencies in pricing, high cancellation rates, and uneven performance across cities and properties</a:t>
            </a:r>
            <a:r>
              <a:rPr lang="en-IN" sz="1600" dirty="0"/>
              <a:t>, rather than a lack of demand.</a:t>
            </a:r>
          </a:p>
          <a:p>
            <a:endParaRPr lang="en-IN" sz="1600" dirty="0"/>
          </a:p>
          <a:p>
            <a:r>
              <a:rPr lang="en-IN" sz="1600" dirty="0"/>
              <a:t>While occupancy levels remain relatively stable, there is significant scope for improvement in </a:t>
            </a:r>
            <a:r>
              <a:rPr lang="en-IN" sz="1600" b="1" dirty="0"/>
              <a:t>revenue optimization, weekday demand, and customer experience</a:t>
            </a:r>
            <a:r>
              <a:rPr lang="en-IN" sz="1600" dirty="0"/>
              <a:t>. Additionally, high dependency on specific cities and booking platforms highlights potential business risks.</a:t>
            </a:r>
          </a:p>
          <a:p>
            <a:endParaRPr lang="en-IN" sz="1600" dirty="0"/>
          </a:p>
          <a:p>
            <a:r>
              <a:rPr lang="en-IN" sz="1600" dirty="0"/>
              <a:t>By implementing better pricing strategies, improving service quality, reducing cancellations, and optimizing underperforming areas, </a:t>
            </a:r>
            <a:r>
              <a:rPr lang="en-IN" sz="1600" dirty="0" err="1"/>
              <a:t>AtliQ</a:t>
            </a:r>
            <a:r>
              <a:rPr lang="en-IN" sz="1600" dirty="0"/>
              <a:t> Grands can enhance its market position and achieve sustainable growth.</a:t>
            </a:r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id="{06B4C967-D337-479B-87CA-7587B7FCF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352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id="{6EF1A9DB-7052-4254-8534-9AAED6F6B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aphic 78">
              <a:extLst>
                <a:ext uri="{FF2B5EF4-FFF2-40B4-BE49-F238E27FC236}">
                  <a16:creationId xmlns:a16="http://schemas.microsoft.com/office/drawing/2014/main" id="{55D44775-F9E3-4142-8CDB-277AEF2F3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id="{93BB9C83-6DC3-450C-BFAD-0CB5EAD294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id="{4E01AF91-A65B-4AE1-96C9-4168BD8F90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id="{0AD45C08-DFB9-441F-A901-BCB9B03058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id="{E05BEC0E-4EE4-42C4-BF0B-15F9AC5181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1" name="Picture 20" descr="Hi Taffy Cat">
            <a:extLst>
              <a:ext uri="{FF2B5EF4-FFF2-40B4-BE49-F238E27FC236}">
                <a16:creationId xmlns:a16="http://schemas.microsoft.com/office/drawing/2014/main" id="{082B8ABE-2DA4-B2F8-95BE-7D03F80C0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7" r="1" b="11621"/>
          <a:stretch>
            <a:fillRect/>
          </a:stretch>
        </p:blipFill>
        <p:spPr>
          <a:xfrm>
            <a:off x="6390113" y="665857"/>
            <a:ext cx="6495784" cy="5179332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2AA7049-B18D-49D6-AD7D-DBB9E19F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713190" y="-534982"/>
            <a:ext cx="943826" cy="201379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850DB66-16D1-4953-A6E3-FCA3DC5F2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35690" y="301956"/>
            <a:ext cx="886142" cy="693398"/>
            <a:chOff x="10948005" y="3379098"/>
            <a:chExt cx="868640" cy="679702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698AB2F-1D17-4249-81CB-9A41D46B8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5301961-8687-4ADB-8043-4065F470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Graphic 15">
              <a:extLst>
                <a:ext uri="{FF2B5EF4-FFF2-40B4-BE49-F238E27FC236}">
                  <a16:creationId xmlns:a16="http://schemas.microsoft.com/office/drawing/2014/main" id="{9DC20816-893A-4201-AA91-22F71E46F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Graphic 15">
              <a:extLst>
                <a:ext uri="{FF2B5EF4-FFF2-40B4-BE49-F238E27FC236}">
                  <a16:creationId xmlns:a16="http://schemas.microsoft.com/office/drawing/2014/main" id="{866D1F4E-BA21-44F3-A97A-E979C5FE78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35EADCB-1DB5-4B69-892B-14567F52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752C2BA4-3BBE-4D22-A0D9-8D2A7B8F1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5918708"/>
            <a:ext cx="3657686" cy="93929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96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2C0BE-5C09-8461-CC36-B40B8181E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EBBBAD3B-C772-FF1F-F04E-CA5BB15F3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19256-5D37-5CDB-96E1-D86FEB3E2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097" y="1653329"/>
            <a:ext cx="4861186" cy="26120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600" dirty="0"/>
              <a:t>Thank you so much</a:t>
            </a:r>
            <a:br>
              <a:rPr lang="en-IN" sz="3600" dirty="0"/>
            </a:br>
            <a:r>
              <a:rPr lang="en-IN" sz="3600" dirty="0"/>
              <a:t> </a:t>
            </a:r>
            <a:r>
              <a:rPr lang="en-IN" sz="3600" dirty="0" err="1"/>
              <a:t>yo</a:t>
            </a:r>
            <a:r>
              <a:rPr lang="en-IN" sz="3600" dirty="0"/>
              <a:t> </a:t>
            </a:r>
            <a:r>
              <a:rPr lang="en-IN" sz="3600" dirty="0" err="1"/>
              <a:t>yooo</a:t>
            </a:r>
            <a:r>
              <a:rPr lang="en-IN" sz="3600" dirty="0"/>
              <a:t>….</a:t>
            </a:r>
            <a:br>
              <a:rPr lang="en-IN" sz="3100" dirty="0"/>
            </a:br>
            <a:endParaRPr lang="en-IN" sz="3100" dirty="0"/>
          </a:p>
        </p:txBody>
      </p:sp>
      <p:grpSp>
        <p:nvGrpSpPr>
          <p:cNvPr id="37" name="Graphic 78">
            <a:extLst>
              <a:ext uri="{FF2B5EF4-FFF2-40B4-BE49-F238E27FC236}">
                <a16:creationId xmlns:a16="http://schemas.microsoft.com/office/drawing/2014/main" id="{BA345B85-738F-5178-50AB-5CE6E1725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352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id="{4DC644B6-7A13-77A7-41DF-3AB855623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aphic 78">
              <a:extLst>
                <a:ext uri="{FF2B5EF4-FFF2-40B4-BE49-F238E27FC236}">
                  <a16:creationId xmlns:a16="http://schemas.microsoft.com/office/drawing/2014/main" id="{F9CBDCB4-F31C-5AEE-C928-800DE136B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id="{AB7FE57D-7BA9-1F8E-BECF-E8703A6297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id="{88A848ED-F57A-619E-DB41-17DB3F0829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id="{97F09495-142C-866D-EF80-BA8FBB029A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id="{BE278C7B-C79C-BF65-A6A3-E252CDE90A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89D3380-E126-A14E-84F6-BAEEC2677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713190" y="-534982"/>
            <a:ext cx="943826" cy="201379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2379F72-44FE-4B5C-FE8A-D403E06C6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35690" y="301956"/>
            <a:ext cx="886142" cy="693398"/>
            <a:chOff x="10948005" y="3379098"/>
            <a:chExt cx="868640" cy="679702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1F47CD7-D7C0-F8AD-9FE3-5175E5DF0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A05AFE2-94C7-8DDF-98AD-15419940F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Graphic 15">
              <a:extLst>
                <a:ext uri="{FF2B5EF4-FFF2-40B4-BE49-F238E27FC236}">
                  <a16:creationId xmlns:a16="http://schemas.microsoft.com/office/drawing/2014/main" id="{266D98E6-623D-5992-5737-E5CA0E8B1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Graphic 15">
              <a:extLst>
                <a:ext uri="{FF2B5EF4-FFF2-40B4-BE49-F238E27FC236}">
                  <a16:creationId xmlns:a16="http://schemas.microsoft.com/office/drawing/2014/main" id="{22A779CB-425D-519F-C3B7-99B54C6C9F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6EEC7AC-B839-68DA-9E7F-5258A638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04BE59F-3D1C-0FC9-45C0-A7F04DE01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5918708"/>
            <a:ext cx="3657686" cy="93929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Picture 6" descr="Love Taffy Cat">
            <a:extLst>
              <a:ext uri="{FF2B5EF4-FFF2-40B4-BE49-F238E27FC236}">
                <a16:creationId xmlns:a16="http://schemas.microsoft.com/office/drawing/2014/main" id="{0F530827-0335-D695-E925-56BFAFB21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502" y="17362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727269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Custom 101">
      <a:dk1>
        <a:sysClr val="windowText" lastClr="000000"/>
      </a:dk1>
      <a:lt1>
        <a:sysClr val="window" lastClr="FFFFFF"/>
      </a:lt1>
      <a:dk2>
        <a:srgbClr val="463443"/>
      </a:dk2>
      <a:lt2>
        <a:srgbClr val="F3F0E9"/>
      </a:lt2>
      <a:accent1>
        <a:srgbClr val="D45E5E"/>
      </a:accent1>
      <a:accent2>
        <a:srgbClr val="D49D8C"/>
      </a:accent2>
      <a:accent3>
        <a:srgbClr val="BF873A"/>
      </a:accent3>
      <a:accent4>
        <a:srgbClr val="C05050"/>
      </a:accent4>
      <a:accent5>
        <a:srgbClr val="A89F68"/>
      </a:accent5>
      <a:accent6>
        <a:srgbClr val="8F6B8A"/>
      </a:accent6>
      <a:hlink>
        <a:srgbClr val="D75681"/>
      </a:hlink>
      <a:folHlink>
        <a:srgbClr val="6C9D92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1421</Words>
  <Application>Microsoft Office PowerPoint</Application>
  <PresentationFormat>Widescreen</PresentationFormat>
  <Paragraphs>138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Avenir Next LT Pro</vt:lpstr>
      <vt:lpstr>Avenir Next LT Pro Light</vt:lpstr>
      <vt:lpstr>Georgia Pro Semibold</vt:lpstr>
      <vt:lpstr>Segoe UI</vt:lpstr>
      <vt:lpstr>Wingdings</vt:lpstr>
      <vt:lpstr>RocaVTI</vt:lpstr>
      <vt:lpstr>Hotel Revenue Analysis &amp; Business Insights for AtliQ Grands </vt:lpstr>
      <vt:lpstr>Problem Statement : </vt:lpstr>
      <vt:lpstr>Project Objective</vt:lpstr>
      <vt:lpstr>DATA SOURCE &amp; DATA  MODELING</vt:lpstr>
      <vt:lpstr>DATA CLEANING AND PREPROCESSING </vt:lpstr>
      <vt:lpstr>DASHBOARD ARCHITACTURE </vt:lpstr>
      <vt:lpstr>Executive overview insights : </vt:lpstr>
      <vt:lpstr>Revenue &amp; Financial insights: </vt:lpstr>
      <vt:lpstr>Occupancy &amp; capacity insights: </vt:lpstr>
      <vt:lpstr>Customer behavior &amp; cancellation  insights: </vt:lpstr>
      <vt:lpstr>Customer Experience insights: </vt:lpstr>
      <vt:lpstr>Conclusion </vt:lpstr>
      <vt:lpstr>Thank you so much  yo yooo….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Nandhu Ch</dc:creator>
  <cp:lastModifiedBy>Nandhu Ch</cp:lastModifiedBy>
  <cp:revision>4</cp:revision>
  <dcterms:created xsi:type="dcterms:W3CDTF">2026-04-16T16:50:11Z</dcterms:created>
  <dcterms:modified xsi:type="dcterms:W3CDTF">2026-04-17T17:01:25Z</dcterms:modified>
</cp:coreProperties>
</file>